
<file path=[Content_Types].xml><?xml version="1.0" encoding="utf-8"?>
<Types xmlns="http://schemas.openxmlformats.org/package/2006/content-types">
  <Default Extension="xml" ContentType="application/xml"/>
  <Default Extension="wmf" ContentType="image/x-wmf"/>
  <Default Extension="png" ContentType="image/png"/>
  <Default Extension="jpeg" ContentType="image/jpeg"/>
  <Default Extension="rels" ContentType="application/vnd.openxmlformats-package.relationships+xml"/>
  <Default Extension="bin" ContentType="application/vnd.openxmlformats-officedocument.oleObject"/>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notesSlides/notesSlide5.xml" ContentType="application/vnd.openxmlformats-officedocument.presentationml.notesSlide+xml"/>
  <Override PartName="/ppt/slides/slide2.xml" ContentType="application/vnd.openxmlformats-officedocument.presentationml.slide+xml"/>
  <Override PartName="/ppt/slides/slide1.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docProps/custom.xml" ContentType="application/vnd.openxmlformats-officedocument.custom-properties+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s/slide7.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Override PartName="/ppt/tableStyles.xml" ContentType="application/vnd.openxmlformats-officedocument.presentationml.tableStyle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1"/>
  </p:notesMasterIdLst>
  <p:sldIdLst>
    <p:sldId id="256" r:id="rId4"/>
    <p:sldId id="257" r:id="rId5"/>
    <p:sldId id="258" r:id="rId6"/>
    <p:sldId id="259" r:id="rId7"/>
    <p:sldId id="260" r:id="rId8"/>
    <p:sldId id="261" r:id="rId9"/>
    <p:sldId id="262" r:id="rId10"/>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0" d="6"/>
          <a:sy n="0" d="2"/>
        </p:scale>
        <p:origin x="830502960" y="0"/>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presProps" Target="presProps.xml" /><Relationship Id="rId13" Type="http://schemas.openxmlformats.org/officeDocument/2006/relationships/tableStyles" Target="tableStyles.xml" /><Relationship Id="rId1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364271810" name="PlaceHolder 1"/>
          <p:cNvSpPr>
            <a:spLocks noGrp="1"/>
          </p:cNvSpPr>
          <p:nvPr>
            <p:ph type="sldImg"/>
          </p:nvPr>
        </p:nvSpPr>
        <p:spPr bwMode="auto">
          <a:xfrm>
            <a:off x="0" y="812520"/>
            <a:ext cx="0" cy="0"/>
          </a:xfrm>
          <a:prstGeom prst="rect">
            <a:avLst/>
          </a:prstGeom>
          <a:noFill/>
          <a:ln w="0">
            <a:noFill/>
          </a:ln>
        </p:spPr>
        <p:txBody>
          <a:bodyPr lIns="0" tIns="0" rIns="0" bIns="0" anchor="ctr">
            <a:noAutofit/>
          </a:bodyPr>
          <a:p>
            <a:pPr>
              <a:lnSpc>
                <a:spcPct val="112999"/>
              </a:lnSpc>
              <a:defRPr/>
            </a:pPr>
            <a:r>
              <a:rPr lang="sk" sz="1800" b="0" u="none" strike="noStrike">
                <a:solidFill>
                  <a:schemeClr val="dk1"/>
                </a:solidFill>
                <a:latin typeface="Aptos"/>
              </a:rPr>
              <a:t>Kliknúť na presun snímky</a:t>
            </a:r>
            <a:endParaRPr lang="sk" sz="1800" b="0" u="none" strike="noStrike">
              <a:solidFill>
                <a:schemeClr val="dk1"/>
              </a:solidFill>
              <a:latin typeface="Aptos"/>
            </a:endParaRPr>
          </a:p>
        </p:txBody>
      </p:sp>
      <p:sp>
        <p:nvSpPr>
          <p:cNvPr id="2039319871" name="PlaceHolder 2"/>
          <p:cNvSpPr>
            <a:spLocks noGrp="1"/>
          </p:cNvSpPr>
          <p:nvPr>
            <p:ph type="body"/>
          </p:nvPr>
        </p:nvSpPr>
        <p:spPr bwMode="auto">
          <a:xfrm>
            <a:off x="756000" y="5078520"/>
            <a:ext cx="6047640" cy="4811039"/>
          </a:xfrm>
          <a:prstGeom prst="rect">
            <a:avLst/>
          </a:prstGeom>
          <a:noFill/>
          <a:ln w="0">
            <a:noFill/>
          </a:ln>
        </p:spPr>
        <p:txBody>
          <a:bodyPr lIns="0" tIns="0" rIns="0" bIns="0" anchor="t">
            <a:noAutofit/>
          </a:bodyPr>
          <a:p>
            <a:pPr indent="0" algn="l">
              <a:lnSpc>
                <a:spcPct val="83000"/>
              </a:lnSpc>
              <a:buNone/>
              <a:defRPr/>
            </a:pPr>
            <a:r>
              <a:rPr lang="sk" sz="2000" b="0" u="none" strike="noStrike">
                <a:solidFill>
                  <a:srgbClr val="FFFFFF"/>
                </a:solidFill>
                <a:latin typeface="Calibri"/>
              </a:rPr>
              <a:t>Kliknúť na úpravu formátu poznámok</a:t>
            </a:r>
            <a:endParaRPr lang="sk" sz="2000" b="0" u="none" strike="noStrike">
              <a:solidFill>
                <a:srgbClr val="FFFFFF"/>
              </a:solidFill>
              <a:latin typeface="Calibri"/>
            </a:endParaRPr>
          </a:p>
        </p:txBody>
      </p:sp>
      <p:sp>
        <p:nvSpPr>
          <p:cNvPr id="946540229" name="PlaceHolder 3"/>
          <p:cNvSpPr>
            <a:spLocks noGrp="1"/>
          </p:cNvSpPr>
          <p:nvPr>
            <p:ph type="hdr"/>
          </p:nvPr>
        </p:nvSpPr>
        <p:spPr bwMode="auto">
          <a:xfrm>
            <a:off x="0" y="0"/>
            <a:ext cx="3280680" cy="534240"/>
          </a:xfrm>
          <a:prstGeom prst="rect">
            <a:avLst/>
          </a:prstGeom>
          <a:noFill/>
          <a:ln w="0">
            <a:noFill/>
          </a:ln>
        </p:spPr>
        <p:txBody>
          <a:bodyPr lIns="0" tIns="0" rIns="0" bIns="0" anchor="t">
            <a:noAutofit/>
          </a:bodyPr>
          <a:p>
            <a:pPr indent="0" algn="l">
              <a:lnSpc>
                <a:spcPct val="83000"/>
              </a:lnSpc>
              <a:buNone/>
              <a:defRPr/>
            </a:pPr>
            <a:r>
              <a:rPr lang="sk" sz="1400" b="0" u="none" strike="noStrike">
                <a:solidFill>
                  <a:srgbClr val="FFFFFF"/>
                </a:solidFill>
                <a:latin typeface="Calibri"/>
              </a:rPr>
              <a:t>&lt;hlavička&gt;</a:t>
            </a:r>
            <a:endParaRPr lang="sk" sz="1400" b="0" u="none" strike="noStrike">
              <a:solidFill>
                <a:srgbClr val="FFFFFF"/>
              </a:solidFill>
              <a:latin typeface="Calibri"/>
            </a:endParaRPr>
          </a:p>
        </p:txBody>
      </p:sp>
      <p:sp>
        <p:nvSpPr>
          <p:cNvPr id="96158079" name="PlaceHolder 4"/>
          <p:cNvSpPr>
            <a:spLocks noGrp="1"/>
          </p:cNvSpPr>
          <p:nvPr>
            <p:ph type="dt" idx="1"/>
          </p:nvPr>
        </p:nvSpPr>
        <p:spPr bwMode="auto">
          <a:xfrm>
            <a:off x="4278960" y="0"/>
            <a:ext cx="3280680" cy="534240"/>
          </a:xfrm>
          <a:prstGeom prst="rect">
            <a:avLst/>
          </a:prstGeom>
          <a:noFill/>
          <a:ln w="0">
            <a:noFill/>
          </a:ln>
        </p:spPr>
        <p:txBody>
          <a:bodyPr lIns="0" tIns="0" rIns="0" bIns="0" anchor="t">
            <a:noAutofit/>
          </a:bodyPr>
          <a:lstStyle>
            <a:lvl1pPr indent="0" algn="r">
              <a:lnSpc>
                <a:spcPct val="83000"/>
              </a:lnSpc>
              <a:buNone/>
              <a:defRPr lang="sk" sz="1400" b="0" u="none" strike="noStrike">
                <a:solidFill>
                  <a:srgbClr val="FFFFFF"/>
                </a:solidFill>
                <a:latin typeface="Calibri"/>
              </a:defRPr>
            </a:lvl1pPr>
          </a:lstStyle>
          <a:p>
            <a:pPr indent="0" algn="r">
              <a:lnSpc>
                <a:spcPct val="83000"/>
              </a:lnSpc>
              <a:buNone/>
              <a:defRPr/>
            </a:pPr>
            <a:r>
              <a:rPr lang="sk" sz="1400" b="0" u="none" strike="noStrike">
                <a:solidFill>
                  <a:srgbClr val="FFFFFF"/>
                </a:solidFill>
                <a:latin typeface="Calibri"/>
              </a:rPr>
              <a:t>&lt;dátum/čas&gt;</a:t>
            </a:r>
            <a:endParaRPr lang="sk" sz="1400" b="0" u="none" strike="noStrike">
              <a:solidFill>
                <a:srgbClr val="FFFFFF"/>
              </a:solidFill>
              <a:latin typeface="Calibri"/>
            </a:endParaRPr>
          </a:p>
        </p:txBody>
      </p:sp>
      <p:sp>
        <p:nvSpPr>
          <p:cNvPr id="2130409187" name="PlaceHolder 5"/>
          <p:cNvSpPr>
            <a:spLocks noGrp="1"/>
          </p:cNvSpPr>
          <p:nvPr>
            <p:ph type="ftr" idx="2"/>
          </p:nvPr>
        </p:nvSpPr>
        <p:spPr bwMode="auto">
          <a:xfrm>
            <a:off x="0" y="10157400"/>
            <a:ext cx="3280680" cy="534240"/>
          </a:xfrm>
          <a:prstGeom prst="rect">
            <a:avLst/>
          </a:prstGeom>
          <a:noFill/>
          <a:ln w="0">
            <a:noFill/>
          </a:ln>
        </p:spPr>
        <p:txBody>
          <a:bodyPr lIns="0" tIns="0" rIns="0" bIns="0" anchor="b">
            <a:noAutofit/>
          </a:bodyPr>
          <a:lstStyle>
            <a:lvl1pPr indent="0" algn="l">
              <a:lnSpc>
                <a:spcPct val="83000"/>
              </a:lnSpc>
              <a:buNone/>
              <a:defRPr lang="sk" sz="1400" b="0" u="none" strike="noStrike">
                <a:solidFill>
                  <a:srgbClr val="FFFFFF"/>
                </a:solidFill>
                <a:latin typeface="Calibri"/>
              </a:defRPr>
            </a:lvl1pPr>
          </a:lstStyle>
          <a:p>
            <a:pPr indent="0" algn="l">
              <a:lnSpc>
                <a:spcPct val="83000"/>
              </a:lnSpc>
              <a:buNone/>
              <a:defRPr/>
            </a:pPr>
            <a:r>
              <a:rPr lang="sk" sz="1400" b="0" u="none" strike="noStrike">
                <a:solidFill>
                  <a:srgbClr val="FFFFFF"/>
                </a:solidFill>
                <a:latin typeface="Calibri"/>
              </a:rPr>
              <a:t>&lt;päta&gt;</a:t>
            </a:r>
            <a:endParaRPr lang="sk" sz="1400" b="0" u="none" strike="noStrike">
              <a:solidFill>
                <a:srgbClr val="FFFFFF"/>
              </a:solidFill>
              <a:latin typeface="Calibri"/>
            </a:endParaRPr>
          </a:p>
        </p:txBody>
      </p:sp>
      <p:sp>
        <p:nvSpPr>
          <p:cNvPr id="1859345597" name="PlaceHolder 6"/>
          <p:cNvSpPr>
            <a:spLocks noGrp="1"/>
          </p:cNvSpPr>
          <p:nvPr>
            <p:ph type="sldNum" idx="3"/>
          </p:nvPr>
        </p:nvSpPr>
        <p:spPr bwMode="auto">
          <a:xfrm>
            <a:off x="4278960" y="10157400"/>
            <a:ext cx="3280680" cy="534240"/>
          </a:xfrm>
          <a:prstGeom prst="rect">
            <a:avLst/>
          </a:prstGeom>
          <a:noFill/>
          <a:ln w="0">
            <a:noFill/>
          </a:ln>
        </p:spPr>
        <p:txBody>
          <a:bodyPr lIns="0" tIns="0" rIns="0" bIns="0" anchor="b">
            <a:noAutofit/>
          </a:bodyPr>
          <a:lstStyle>
            <a:lvl1pPr indent="0" algn="r">
              <a:lnSpc>
                <a:spcPct val="83000"/>
              </a:lnSpc>
              <a:buNone/>
              <a:defRPr lang="sk" sz="1400" b="0" u="none" strike="noStrike">
                <a:solidFill>
                  <a:srgbClr val="FFFFFF"/>
                </a:solidFill>
                <a:latin typeface="Calibri"/>
              </a:defRPr>
            </a:lvl1pPr>
          </a:lstStyle>
          <a:p>
            <a:pPr indent="0" algn="r">
              <a:lnSpc>
                <a:spcPct val="83000"/>
              </a:lnSpc>
              <a:buNone/>
              <a:defRPr/>
            </a:pPr>
            <a:fld id="{42B187E5-EE36-46CD-9C2F-EABEC5271CF4}" type="slidenum">
              <a:rPr lang="sk" sz="1400" b="0" u="none" strike="noStrike">
                <a:solidFill>
                  <a:srgbClr val="FFFFFF"/>
                </a:solidFill>
                <a:latin typeface="Calibri"/>
              </a:rPr>
              <a:t>&lt;číslo&gt;</a:t>
            </a:fld>
            <a:endParaRPr lang="sk" sz="1400" b="0" u="none" strike="noStrike">
              <a:solidFill>
                <a:srgbClr val="FFFFFF"/>
              </a:solidFill>
              <a:latin typeface="Calibri"/>
            </a:endParaRPr>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2688804" name="PlaceHolder 1"/>
          <p:cNvSpPr>
            <a:spLocks noGrp="1"/>
          </p:cNvSpPr>
          <p:nvPr>
            <p:ph type="sldImg"/>
          </p:nvPr>
        </p:nvSpPr>
        <p:spPr bwMode="auto">
          <a:xfrm>
            <a:off x="685800" y="1143000"/>
            <a:ext cx="5486039" cy="3085920"/>
          </a:xfrm>
          <a:prstGeom prst="rect">
            <a:avLst/>
          </a:prstGeom>
          <a:ln w="0">
            <a:noFill/>
          </a:ln>
        </p:spPr>
      </p:sp>
      <p:sp>
        <p:nvSpPr>
          <p:cNvPr id="1428351781"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a:defRPr/>
            </a:pPr>
            <a:r>
              <a:rPr sz="2000" b="0" i="0" u="none">
                <a:solidFill>
                  <a:srgbClr val="000000"/>
                </a:solidFill>
                <a:latin typeface="Times New Roman"/>
                <a:ea typeface="Times New Roman"/>
                <a:cs typeface="Times New Roman"/>
              </a:rPr>
              <a:t>Hello everyone. Today I’m introducing Nextcloud Snap. Essentially, it is a preconfigured default upstream Nextcloud that can be deployed on any Ubuntu device in minutes with just a single shell command: </a:t>
            </a:r>
            <a:r>
              <a:rPr sz="2000" b="0" i="0" u="none">
                <a:solidFill>
                  <a:srgbClr val="000000"/>
                </a:solidFill>
                <a:latin typeface="Courier New"/>
                <a:ea typeface="Courier New"/>
                <a:cs typeface="Courier New"/>
              </a:rPr>
              <a:t>sudo snap install nextcloud</a:t>
            </a:r>
            <a:r>
              <a:rPr sz="2000" b="0" i="0" u="none">
                <a:solidFill>
                  <a:srgbClr val="000000"/>
                </a:solidFill>
                <a:latin typeface="Times New Roman"/>
                <a:ea typeface="Times New Roman"/>
                <a:cs typeface="Times New Roman"/>
              </a:rPr>
              <a:t>. It includes sensible presets but remains fully configurable. Unlike traditional manual stack setups which takes time to master, the Snap offers fully a functional Nextcloud including Office, Mail, Talk, and SSL encryption out of the box.</a:t>
            </a:r>
            <a:endParaRPr/>
          </a:p>
        </p:txBody>
      </p:sp>
      <p:sp>
        <p:nvSpPr>
          <p:cNvPr id="188841452" name="PlaceHolder 3"/>
          <p:cNvSpPr>
            <a:spLocks noGrp="1"/>
          </p:cNvSpPr>
          <p:nvPr>
            <p:ph type="sldNum" idx="4"/>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C5ADB14A-156A-4DE3-BF05-79E0DFE5FB6F}" type="slidenum">
              <a:rPr lang="en-US" sz="1200" b="0" u="none" strike="noStrike">
                <a:solidFill>
                  <a:schemeClr val="dk1"/>
                </a:solidFill>
                <a:latin typeface="+mn-lt"/>
                <a:ea typeface="+mn-ea"/>
              </a:rPr>
              <a:t>&lt;číslo&gt;</a:t>
            </a:fld>
            <a:endParaRPr lang="sk" sz="1200" b="0" u="none" strike="noStrike">
              <a:solidFill>
                <a:srgbClr val="FFFFFF"/>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8674057" name="PlaceHolder 1"/>
          <p:cNvSpPr>
            <a:spLocks noGrp="1"/>
          </p:cNvSpPr>
          <p:nvPr>
            <p:ph type="sldImg"/>
          </p:nvPr>
        </p:nvSpPr>
        <p:spPr bwMode="auto">
          <a:xfrm>
            <a:off x="685800" y="1143000"/>
            <a:ext cx="5486039" cy="3085920"/>
          </a:xfrm>
          <a:prstGeom prst="rect">
            <a:avLst/>
          </a:prstGeom>
          <a:ln w="0">
            <a:noFill/>
          </a:ln>
        </p:spPr>
      </p:sp>
      <p:sp>
        <p:nvSpPr>
          <p:cNvPr id="1134885668"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a:defRPr/>
            </a:pPr>
            <a:r>
              <a:rPr sz="2000" b="0" i="0" u="none">
                <a:solidFill>
                  <a:srgbClr val="000000"/>
                </a:solidFill>
                <a:latin typeface="Times New Roman"/>
                <a:ea typeface="Times New Roman"/>
                <a:cs typeface="Times New Roman"/>
              </a:rPr>
              <a:t>The problem we are solving is infrastructure complexity. Before collaboration can happen, you usually need to build the infrastructure. For a new user, traditional self-hosting asks them to understand every layer before they can share a single file. This includes configuring web servers like Apache or Nginx and managing PHP modules, database layers, and lifecycle management for updates and backups. It is a heavy lift for simple collaboration.</a:t>
            </a:r>
            <a:endParaRPr/>
          </a:p>
        </p:txBody>
      </p:sp>
      <p:sp>
        <p:nvSpPr>
          <p:cNvPr id="183594918" name="PlaceHolder 3"/>
          <p:cNvSpPr>
            <a:spLocks noGrp="1"/>
          </p:cNvSpPr>
          <p:nvPr>
            <p:ph type="sldNum" idx="5"/>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6A4AE0D8-67CC-4D75-AEF7-001A3B2BAF2A}" type="slidenum">
              <a:rPr lang="en-US" sz="1200" b="0" u="none" strike="noStrike">
                <a:solidFill>
                  <a:schemeClr val="dk1"/>
                </a:solidFill>
                <a:latin typeface="+mn-lt"/>
                <a:ea typeface="+mn-ea"/>
              </a:rPr>
              <a:t>&lt;číslo&gt;</a:t>
            </a:fld>
            <a:endParaRPr lang="sk" sz="1200" b="0" u="none" strike="noStrike">
              <a:solidFill>
                <a:srgbClr val="FFFFFF"/>
              </a:solidFill>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0322442" name="PlaceHolder 1"/>
          <p:cNvSpPr>
            <a:spLocks noGrp="1"/>
          </p:cNvSpPr>
          <p:nvPr>
            <p:ph type="sldImg"/>
          </p:nvPr>
        </p:nvSpPr>
        <p:spPr bwMode="auto">
          <a:xfrm>
            <a:off x="685800" y="1143000"/>
            <a:ext cx="5486039" cy="3085920"/>
          </a:xfrm>
          <a:prstGeom prst="rect">
            <a:avLst/>
          </a:prstGeom>
          <a:ln w="0">
            <a:noFill/>
          </a:ln>
        </p:spPr>
      </p:sp>
      <p:sp>
        <p:nvSpPr>
          <p:cNvPr id="1147016647"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a:defRPr/>
            </a:pPr>
            <a:r>
              <a:rPr sz="2000" b="0" i="0" u="none">
                <a:solidFill>
                  <a:srgbClr val="000000"/>
                </a:solidFill>
                <a:latin typeface="Times New Roman"/>
                <a:ea typeface="Times New Roman"/>
                <a:cs typeface="Times New Roman"/>
              </a:rPr>
              <a:t>Our approach is built on peace of mind and the KISS principle. We package the default Nextcloud so users don't have to guess at configurations. To ensure quality, we utilize a rigorous process of continuous integration, automated testing, and release testing. The goal is to ship updates predictably, ensuring that what works in development works exactly the same for you.</a:t>
            </a:r>
            <a:endParaRPr/>
          </a:p>
        </p:txBody>
      </p:sp>
      <p:sp>
        <p:nvSpPr>
          <p:cNvPr id="267911883" name="PlaceHolder 3"/>
          <p:cNvSpPr>
            <a:spLocks noGrp="1"/>
          </p:cNvSpPr>
          <p:nvPr>
            <p:ph type="sldNum" idx="6"/>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EDCF48F3-028B-4A72-971B-AFC16683A700}" type="slidenum">
              <a:rPr lang="en-US" sz="1200" b="0" u="none" strike="noStrike">
                <a:solidFill>
                  <a:schemeClr val="dk1"/>
                </a:solidFill>
                <a:latin typeface="+mn-lt"/>
                <a:ea typeface="+mn-ea"/>
              </a:rPr>
              <a:t>&lt;číslo&gt;</a:t>
            </a:fld>
            <a:endParaRPr lang="sk" sz="1200" b="0" u="none" strike="noStrike">
              <a:solidFill>
                <a:srgbClr val="FFFFFF"/>
              </a:solidFill>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9823599" name="PlaceHolder 1"/>
          <p:cNvSpPr>
            <a:spLocks noGrp="1"/>
          </p:cNvSpPr>
          <p:nvPr>
            <p:ph type="sldImg"/>
          </p:nvPr>
        </p:nvSpPr>
        <p:spPr bwMode="auto">
          <a:xfrm>
            <a:off x="685800" y="1143000"/>
            <a:ext cx="5486039" cy="3085920"/>
          </a:xfrm>
          <a:prstGeom prst="rect">
            <a:avLst/>
          </a:prstGeom>
          <a:ln w="0">
            <a:noFill/>
          </a:ln>
        </p:spPr>
      </p:sp>
      <p:sp>
        <p:nvSpPr>
          <p:cNvPr id="753768606"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a:defRPr/>
            </a:pPr>
            <a:r>
              <a:rPr sz="2000" b="0" i="0" u="none">
                <a:solidFill>
                  <a:srgbClr val="000000"/>
                </a:solidFill>
                <a:latin typeface="Times New Roman"/>
                <a:ea typeface="Times New Roman"/>
                <a:cs typeface="Times New Roman"/>
              </a:rPr>
              <a:t>Inside the Snap, we’ve grouped a multi-component stack into one unit. Our goal is 'install and forget'—keeping everything upgradeable while offering full customization. We use an integrated Let’s Encrypt workflow for HTTPS and recommend standard stacks like Apache, PHP, MySQL, and Redis. It is 100% FOSS with secure confinement, running anywhere from bare-metal to IoT devices. Crucially, it handles its own maintenance through automatic updates with configurable timing and built-in snapshots.</a:t>
            </a:r>
            <a:endParaRPr/>
          </a:p>
        </p:txBody>
      </p:sp>
      <p:sp>
        <p:nvSpPr>
          <p:cNvPr id="566319302" name="PlaceHolder 3"/>
          <p:cNvSpPr>
            <a:spLocks noGrp="1"/>
          </p:cNvSpPr>
          <p:nvPr>
            <p:ph type="sldNum" idx="7"/>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5C5C4335-6688-414D-9D18-A40E90315384}" type="slidenum">
              <a:rPr lang="en-US" sz="1200" b="0" u="none" strike="noStrike">
                <a:solidFill>
                  <a:schemeClr val="dk1"/>
                </a:solidFill>
                <a:latin typeface="+mn-lt"/>
                <a:ea typeface="+mn-ea"/>
              </a:rPr>
              <a:t>&lt;číslo&gt;</a:t>
            </a:fld>
            <a:endParaRPr lang="sk" sz="1200" b="0" u="none" strike="noStrike">
              <a:solidFill>
                <a:srgbClr val="FFFFFF"/>
              </a:solidFill>
              <a:latin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1615266" name="PlaceHolder 1"/>
          <p:cNvSpPr>
            <a:spLocks noGrp="1"/>
          </p:cNvSpPr>
          <p:nvPr>
            <p:ph type="sldImg"/>
          </p:nvPr>
        </p:nvSpPr>
        <p:spPr bwMode="auto">
          <a:xfrm>
            <a:off x="685800" y="1143000"/>
            <a:ext cx="5486039" cy="3085920"/>
          </a:xfrm>
          <a:prstGeom prst="rect">
            <a:avLst/>
          </a:prstGeom>
          <a:ln w="0">
            <a:noFill/>
          </a:ln>
        </p:spPr>
      </p:sp>
      <p:sp>
        <p:nvSpPr>
          <p:cNvPr id="1057337828"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a:defRPr/>
            </a:pPr>
            <a:r>
              <a:rPr sz="2000" b="0" i="0" u="none">
                <a:solidFill>
                  <a:srgbClr val="000000"/>
                </a:solidFill>
                <a:latin typeface="Times New Roman"/>
                <a:ea typeface="Times New Roman"/>
                <a:cs typeface="Times New Roman"/>
              </a:rPr>
              <a:t>How do we handle the lifecycle? </a:t>
            </a:r>
            <a:r>
              <a:rPr sz="2000" b="1" i="0" u="none">
                <a:solidFill>
                  <a:srgbClr val="000000"/>
                </a:solidFill>
                <a:latin typeface="Times New Roman"/>
                <a:ea typeface="Times New Roman"/>
                <a:cs typeface="Times New Roman"/>
              </a:rPr>
              <a:t>We want updates to feel like routine maintenance, not drama.</a:t>
            </a:r>
            <a:r>
              <a:rPr sz="2000" b="0" i="0" u="none">
                <a:solidFill>
                  <a:srgbClr val="000000"/>
                </a:solidFill>
                <a:latin typeface="Times New Roman"/>
                <a:ea typeface="Times New Roman"/>
                <a:cs typeface="Times New Roman"/>
              </a:rPr>
              <a:t> The Snap auto-refreshes by default, though you can control the timing. It creates scheduled snapshots automatically, which allows for easy revert, recovery, and migration if needed. </a:t>
            </a:r>
            <a:endParaRPr/>
          </a:p>
        </p:txBody>
      </p:sp>
      <p:sp>
        <p:nvSpPr>
          <p:cNvPr id="787517623" name="PlaceHolder 3"/>
          <p:cNvSpPr>
            <a:spLocks noGrp="1"/>
          </p:cNvSpPr>
          <p:nvPr>
            <p:ph type="sldNum" idx="8"/>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49BE194B-1852-4050-AB7C-50002A2EE2E0}" type="slidenum">
              <a:rPr lang="en-US" sz="1200" b="0" u="none" strike="noStrike">
                <a:solidFill>
                  <a:schemeClr val="dk1"/>
                </a:solidFill>
                <a:latin typeface="+mn-lt"/>
                <a:ea typeface="+mn-ea"/>
              </a:rPr>
              <a:t>&lt;číslo&gt;</a:t>
            </a:fld>
            <a:endParaRPr lang="sk" sz="1200" b="0" u="none" strike="noStrike">
              <a:solidFill>
                <a:srgbClr val="FFFFFF"/>
              </a:solidFill>
              <a:latin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6627743" name="PlaceHolder 1"/>
          <p:cNvSpPr>
            <a:spLocks noGrp="1"/>
          </p:cNvSpPr>
          <p:nvPr>
            <p:ph type="sldImg"/>
          </p:nvPr>
        </p:nvSpPr>
        <p:spPr bwMode="auto">
          <a:xfrm>
            <a:off x="685800" y="1143000"/>
            <a:ext cx="5486039" cy="3085920"/>
          </a:xfrm>
          <a:prstGeom prst="rect">
            <a:avLst/>
          </a:prstGeom>
          <a:ln w="0">
            <a:noFill/>
          </a:ln>
        </p:spPr>
      </p:sp>
      <p:sp>
        <p:nvSpPr>
          <p:cNvPr id="1410973668"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a:defRPr/>
            </a:pPr>
            <a:r>
              <a:rPr sz="2000" b="0" i="0" u="none">
                <a:solidFill>
                  <a:srgbClr val="000000"/>
                </a:solidFill>
                <a:latin typeface="Times New Roman"/>
                <a:ea typeface="Times New Roman"/>
                <a:cs typeface="Times New Roman"/>
              </a:rPr>
              <a:t>"So, who is Nextcloud Snap for? It is perfect for personal or family servers, team hubs, small businesses, and labs where you want automatic Lets Encrypt certificates but zero administration skills. However, it is not ideal if you are a large enterprise needing highly customized stacks or full manual control of every component."</a:t>
            </a:r>
            <a:endParaRPr/>
          </a:p>
        </p:txBody>
      </p:sp>
      <p:sp>
        <p:nvSpPr>
          <p:cNvPr id="1652049969" name="PlaceHolder 3"/>
          <p:cNvSpPr>
            <a:spLocks noGrp="1"/>
          </p:cNvSpPr>
          <p:nvPr>
            <p:ph type="sldNum" idx="9"/>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AC24C103-C73A-4038-BD8F-C37092CC3B14}" type="slidenum">
              <a:rPr lang="en-US" sz="1200" b="0" u="none" strike="noStrike">
                <a:solidFill>
                  <a:schemeClr val="dk1"/>
                </a:solidFill>
                <a:latin typeface="+mn-lt"/>
                <a:ea typeface="+mn-ea"/>
              </a:rPr>
              <a:t>&lt;číslo&gt;</a:t>
            </a:fld>
            <a:endParaRPr lang="sk" sz="1200" b="0" u="none" strike="noStrike">
              <a:solidFill>
                <a:srgbClr val="FFFFFF"/>
              </a:solidFill>
              <a:latin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4931524" name="PlaceHolder 1"/>
          <p:cNvSpPr>
            <a:spLocks noGrp="1"/>
          </p:cNvSpPr>
          <p:nvPr>
            <p:ph type="sldImg"/>
          </p:nvPr>
        </p:nvSpPr>
        <p:spPr bwMode="auto">
          <a:xfrm>
            <a:off x="685800" y="1143000"/>
            <a:ext cx="5486039" cy="3085920"/>
          </a:xfrm>
          <a:prstGeom prst="rect">
            <a:avLst/>
          </a:prstGeom>
          <a:ln w="0">
            <a:noFill/>
          </a:ln>
        </p:spPr>
      </p:sp>
      <p:sp>
        <p:nvSpPr>
          <p:cNvPr id="1266766547"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a:defRPr/>
            </a:pPr>
            <a:r>
              <a:rPr sz="2000" b="0" i="0" u="none">
                <a:solidFill>
                  <a:srgbClr val="000000"/>
                </a:solidFill>
                <a:latin typeface="Times New Roman"/>
                <a:ea typeface="Times New Roman"/>
                <a:cs typeface="Times New Roman"/>
              </a:rPr>
              <a:t>Finally, the history of this project. It started in 2016 when Kyle Fazzari released the first Nextcloud snap (still available today), in 2019 a small friendly team was formed. In 2020 extensive documentation and our Wiki appeared and semi-automated release testing evolved.  Moving into 2026, we migrated plugins and upgraded the core, thanks to amazing community developers, who helped us get rid of some technical debt, giving the project high release confidence ensuring continuous focus on the Nextcloud experience!</a:t>
            </a:r>
            <a:endParaRPr sz="2000" b="0" i="0" u="none">
              <a:solidFill>
                <a:srgbClr val="000000"/>
              </a:solidFill>
              <a:latin typeface="Times New Roman"/>
              <a:ea typeface="Times New Roman"/>
              <a:cs typeface="Times New Roman"/>
            </a:endParaRPr>
          </a:p>
          <a:p>
            <a:pPr>
              <a:defRPr/>
            </a:pPr>
            <a:endParaRPr/>
          </a:p>
          <a:p>
            <a:pPr>
              <a:defRPr/>
            </a:pPr>
            <a:r>
              <a:rPr lang="en-US" sz="2000" b="0" i="0" u="none" strike="noStrike" cap="none" spc="0">
                <a:solidFill>
                  <a:srgbClr val="000000"/>
                </a:solidFill>
                <a:latin typeface="Times New Roman"/>
                <a:ea typeface="Times New Roman"/>
                <a:cs typeface="Times New Roman"/>
              </a:rPr>
              <a:t>We are proud to report over 70,000 active installations today.</a:t>
            </a:r>
            <a:endParaRPr sz="2000" b="0" i="0" u="none">
              <a:solidFill>
                <a:srgbClr val="000000"/>
              </a:solidFill>
              <a:latin typeface="Times New Roman"/>
              <a:ea typeface="Times New Roman"/>
              <a:cs typeface="Times New Roman"/>
            </a:endParaRPr>
          </a:p>
          <a:p>
            <a:pPr>
              <a:defRPr/>
            </a:pPr>
            <a:endParaRPr sz="2000" b="0" i="0" u="none">
              <a:solidFill>
                <a:srgbClr val="000000"/>
              </a:solidFill>
              <a:latin typeface="Times New Roman"/>
              <a:ea typeface="Times New Roman"/>
              <a:cs typeface="Times New Roman"/>
            </a:endParaRPr>
          </a:p>
          <a:p>
            <a:pPr>
              <a:defRPr/>
            </a:pPr>
            <a:r>
              <a:rPr sz="2000" b="0" i="0" u="none">
                <a:solidFill>
                  <a:srgbClr val="000000"/>
                </a:solidFill>
                <a:latin typeface="Times New Roman"/>
                <a:ea typeface="Times New Roman"/>
                <a:cs typeface="Times New Roman"/>
              </a:rPr>
              <a:t>Thank you.</a:t>
            </a:r>
            <a:endParaRPr sz="2000" b="0" i="0" u="none">
              <a:solidFill>
                <a:srgbClr val="000000"/>
              </a:solidFill>
              <a:latin typeface="Times New Roman"/>
              <a:ea typeface="Times New Roman"/>
              <a:cs typeface="Times New Roman"/>
            </a:endParaRPr>
          </a:p>
        </p:txBody>
      </p:sp>
      <p:sp>
        <p:nvSpPr>
          <p:cNvPr id="1947106551" name="PlaceHolder 3"/>
          <p:cNvSpPr>
            <a:spLocks noGrp="1"/>
          </p:cNvSpPr>
          <p:nvPr>
            <p:ph type="sldNum" idx="10"/>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3D3E764F-C688-483B-96C8-228B617F665C}" type="slidenum">
              <a:rPr lang="en-US" sz="1200" b="0" u="none" strike="noStrike">
                <a:solidFill>
                  <a:schemeClr val="dk1"/>
                </a:solidFill>
                <a:latin typeface="+mn-lt"/>
                <a:ea typeface="+mn-ea"/>
              </a:rPr>
              <a:t>&lt;číslo&gt;</a:t>
            </a:fld>
            <a:endParaRPr lang="sk" sz="1200" b="0" u="none" strike="noStrike">
              <a:solidFill>
                <a:srgbClr val="FFFFFF"/>
              </a:solidFill>
              <a:latin typeface="Calibri"/>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DEFAULT">
    <p:bg>
      <p:bgPr shadeToTitle="0">
        <a:solidFill>
          <a:srgbClr val="FFFFFF"/>
        </a:solidFill>
      </p:bgPr>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bg>
      <p:bgPr shadeToTitle="0">
        <a:solidFill>
          <a:srgbClr val="06111F"/>
        </a:solidFill>
      </p:bgPr>
    </p:bg>
    <p:spTree>
      <p:nvGrpSpPr>
        <p:cNvPr id="1" name=""/>
        <p:cNvGrpSpPr/>
        <p:nvPr/>
      </p:nvGrpSpPr>
      <p:grpSpPr bwMode="auto">
        <a:xfrm>
          <a:off x="0" y="0"/>
          <a:ext cx="0" cy="0"/>
          <a:chOff x="0" y="0"/>
          <a:chExt cx="0" cy="0"/>
        </a:xfrm>
      </p:grpSpPr>
      <p:sp>
        <p:nvSpPr>
          <p:cNvPr id="1527866085" name="PlaceHolder 1"/>
          <p:cNvSpPr>
            <a:spLocks noGrp="1"/>
          </p:cNvSpPr>
          <p:nvPr>
            <p:ph type="title"/>
          </p:nvPr>
        </p:nvSpPr>
        <p:spPr bwMode="auto">
          <a:xfrm>
            <a:off x="609480" y="273600"/>
            <a:ext cx="10972079" cy="1144800"/>
          </a:xfrm>
          <a:prstGeom prst="rect">
            <a:avLst/>
          </a:prstGeom>
          <a:noFill/>
          <a:ln w="0">
            <a:noFill/>
          </a:ln>
        </p:spPr>
        <p:txBody>
          <a:bodyPr lIns="0" tIns="0" rIns="0" bIns="0" anchor="ctr">
            <a:noAutofit/>
          </a:bodyPr>
          <a:lstStyle>
            <a:lvl1pPr indent="0" algn="l">
              <a:lnSpc>
                <a:spcPct val="112999"/>
              </a:lnSpc>
              <a:buNone/>
              <a:defRPr lang="sk" sz="1800" b="0" u="none" strike="noStrike">
                <a:solidFill>
                  <a:schemeClr val="dk1"/>
                </a:solidFill>
                <a:latin typeface="Aptos"/>
              </a:defRPr>
            </a:lvl1pPr>
          </a:lstStyle>
          <a:p>
            <a:pPr indent="0" algn="l">
              <a:lnSpc>
                <a:spcPct val="112999"/>
              </a:lnSpc>
              <a:buNone/>
              <a:defRPr/>
            </a:pPr>
            <a:r>
              <a:rPr lang="sk" sz="1800" b="0" u="none" strike="noStrike">
                <a:solidFill>
                  <a:schemeClr val="dk1"/>
                </a:solidFill>
                <a:latin typeface="Aptos"/>
              </a:rPr>
              <a:t>Kliknúť na úpravu formátu textu titulku</a:t>
            </a:r>
            <a:endParaRPr lang="sk" sz="1800" b="0" u="none" strike="noStrike">
              <a:solidFill>
                <a:schemeClr val="dk1"/>
              </a:solidFill>
              <a:latin typeface="Aptos"/>
            </a:endParaRPr>
          </a:p>
        </p:txBody>
      </p:sp>
      <p:sp>
        <p:nvSpPr>
          <p:cNvPr id="2053761357" name="PlaceHolder 2"/>
          <p:cNvSpPr>
            <a:spLocks noGrp="1"/>
          </p:cNvSpPr>
          <p:nvPr>
            <p:ph type="body"/>
          </p:nvPr>
        </p:nvSpPr>
        <p:spPr bwMode="auto">
          <a:xfrm>
            <a:off x="609480" y="1604520"/>
            <a:ext cx="10972079" cy="3977280"/>
          </a:xfrm>
          <a:prstGeom prst="rect">
            <a:avLst/>
          </a:prstGeom>
          <a:noFill/>
          <a:ln w="0">
            <a:noFill/>
          </a:ln>
        </p:spPr>
        <p:txBody>
          <a:bodyPr lIns="0" tIns="0" rIns="0" bIns="0" anchor="t">
            <a:normAutofit/>
          </a:bodyPr>
          <a:lstStyle>
            <a:lvl1pPr algn="l">
              <a:lnSpc>
                <a:spcPct val="112999"/>
              </a:lnSpc>
              <a:spcBef>
                <a:spcPts val="1417"/>
              </a:spcBef>
              <a:buClr>
                <a:srgbClr val="FFFFFF"/>
              </a:buClr>
              <a:buSzPct val="45000"/>
              <a:buFont typeface="Wingdings"/>
              <a:buChar char=""/>
              <a:defRPr lang="sk" sz="3200" b="0" u="none" strike="noStrike">
                <a:solidFill>
                  <a:schemeClr val="dk1"/>
                </a:solidFill>
                <a:latin typeface="Aptos"/>
              </a:defRPr>
            </a:lvl1pPr>
            <a:lvl2pPr lvl="1" algn="l">
              <a:lnSpc>
                <a:spcPct val="112999"/>
              </a:lnSpc>
              <a:spcBef>
                <a:spcPts val="1134"/>
              </a:spcBef>
              <a:buClr>
                <a:srgbClr val="FFFFFF"/>
              </a:buClr>
              <a:buSzPct val="75000"/>
              <a:buFont typeface="Symbol"/>
              <a:buChar char=""/>
              <a:defRPr lang="sk" sz="2400" b="0" u="none" strike="noStrike">
                <a:solidFill>
                  <a:schemeClr val="dk1"/>
                </a:solidFill>
                <a:latin typeface="Aptos"/>
              </a:defRPr>
            </a:lvl2pPr>
            <a:lvl3pPr lvl="2" algn="l">
              <a:lnSpc>
                <a:spcPct val="112999"/>
              </a:lnSpc>
              <a:spcBef>
                <a:spcPts val="850"/>
              </a:spcBef>
              <a:buClr>
                <a:srgbClr val="FFFFFF"/>
              </a:buClr>
              <a:buSzPct val="45000"/>
              <a:buFont typeface="Wingdings"/>
              <a:buChar char=""/>
              <a:defRPr lang="sk" sz="2000" b="0" u="none" strike="noStrike">
                <a:solidFill>
                  <a:schemeClr val="dk1"/>
                </a:solidFill>
                <a:latin typeface="Aptos"/>
              </a:defRPr>
            </a:lvl3pPr>
            <a:lvl4pPr lvl="3" algn="l">
              <a:lnSpc>
                <a:spcPct val="112999"/>
              </a:lnSpc>
              <a:spcBef>
                <a:spcPts val="567"/>
              </a:spcBef>
              <a:buClr>
                <a:srgbClr val="FFFFFF"/>
              </a:buClr>
              <a:buSzPct val="75000"/>
              <a:buFont typeface="Symbol"/>
              <a:buChar char=""/>
              <a:defRPr lang="sk" sz="2000" b="0" u="none" strike="noStrike">
                <a:solidFill>
                  <a:schemeClr val="dk1"/>
                </a:solidFill>
                <a:latin typeface="Aptos"/>
              </a:defRPr>
            </a:lvl4pPr>
            <a:lvl5pPr lvl="4" algn="l">
              <a:lnSpc>
                <a:spcPct val="112999"/>
              </a:lnSpc>
              <a:spcBef>
                <a:spcPts val="283"/>
              </a:spcBef>
              <a:buClr>
                <a:srgbClr val="FFFFFF"/>
              </a:buClr>
              <a:buSzPct val="45000"/>
              <a:buFont typeface="Wingdings"/>
              <a:buChar char=""/>
              <a:defRPr lang="sk" sz="2000" b="0" u="none" strike="noStrike">
                <a:solidFill>
                  <a:schemeClr val="dk1"/>
                </a:solidFill>
                <a:latin typeface="Aptos"/>
              </a:defRPr>
            </a:lvl5pPr>
            <a:lvl6pPr lvl="5" algn="l">
              <a:lnSpc>
                <a:spcPct val="112999"/>
              </a:lnSpc>
              <a:spcBef>
                <a:spcPts val="283"/>
              </a:spcBef>
              <a:buClr>
                <a:srgbClr val="FFFFFF"/>
              </a:buClr>
              <a:buSzPct val="45000"/>
              <a:buFont typeface="Wingdings"/>
              <a:buChar char=""/>
              <a:defRPr lang="sk" sz="2000" b="0" u="none" strike="noStrike">
                <a:solidFill>
                  <a:schemeClr val="dk1"/>
                </a:solidFill>
                <a:latin typeface="Aptos"/>
              </a:defRPr>
            </a:lvl6pPr>
            <a:lvl7pPr lvl="6" algn="l">
              <a:lnSpc>
                <a:spcPct val="112999"/>
              </a:lnSpc>
              <a:spcBef>
                <a:spcPts val="283"/>
              </a:spcBef>
              <a:buClr>
                <a:srgbClr val="FFFFFF"/>
              </a:buClr>
              <a:buSzPct val="45000"/>
              <a:buFont typeface="Wingdings"/>
              <a:buChar char=""/>
              <a:defRPr lang="sk" sz="2000" b="0" u="none" strike="noStrike">
                <a:solidFill>
                  <a:schemeClr val="dk1"/>
                </a:solidFill>
                <a:latin typeface="Aptos"/>
              </a:defRPr>
            </a:lvl7pPr>
          </a:lstStyle>
          <a:p>
            <a:pPr marL="432000" indent="-324000" algn="l">
              <a:lnSpc>
                <a:spcPct val="112999"/>
              </a:lnSpc>
              <a:spcBef>
                <a:spcPts val="1417"/>
              </a:spcBef>
              <a:buClr>
                <a:srgbClr val="FFFFFF"/>
              </a:buClr>
              <a:buSzPct val="45000"/>
              <a:buFont typeface="Wingdings"/>
              <a:buChar char=""/>
              <a:defRPr/>
            </a:pPr>
            <a:r>
              <a:rPr lang="sk" sz="3200" b="0" u="none" strike="noStrike">
                <a:solidFill>
                  <a:schemeClr val="dk1"/>
                </a:solidFill>
                <a:latin typeface="Aptos"/>
              </a:rPr>
              <a:t>Kliknúť na úpravu formátu textu osnovy</a:t>
            </a:r>
            <a:endParaRPr lang="sk" sz="3200" b="0" u="none" strike="noStrike">
              <a:solidFill>
                <a:schemeClr val="dk1"/>
              </a:solidFill>
              <a:latin typeface="Aptos"/>
            </a:endParaRPr>
          </a:p>
          <a:p>
            <a:pPr marL="864000" lvl="1" indent="-324000" algn="l">
              <a:lnSpc>
                <a:spcPct val="112999"/>
              </a:lnSpc>
              <a:spcBef>
                <a:spcPts val="1134"/>
              </a:spcBef>
              <a:buClr>
                <a:srgbClr val="FFFFFF"/>
              </a:buClr>
              <a:buSzPct val="75000"/>
              <a:buFont typeface="Symbol"/>
              <a:buChar char=""/>
              <a:defRPr/>
            </a:pPr>
            <a:r>
              <a:rPr lang="sk" sz="2400" b="0" u="none" strike="noStrike">
                <a:solidFill>
                  <a:schemeClr val="dk1"/>
                </a:solidFill>
                <a:latin typeface="Aptos"/>
              </a:rPr>
              <a:t>Druhá úroveň</a:t>
            </a:r>
            <a:endParaRPr lang="sk" sz="2400" b="0" u="none" strike="noStrike">
              <a:solidFill>
                <a:schemeClr val="dk1"/>
              </a:solidFill>
              <a:latin typeface="Aptos"/>
            </a:endParaRPr>
          </a:p>
          <a:p>
            <a:pPr marL="1296000" lvl="2" indent="-288000" algn="l">
              <a:lnSpc>
                <a:spcPct val="112999"/>
              </a:lnSpc>
              <a:spcBef>
                <a:spcPts val="850"/>
              </a:spcBef>
              <a:buClr>
                <a:srgbClr val="FFFFFF"/>
              </a:buClr>
              <a:buSzPct val="45000"/>
              <a:buFont typeface="Wingdings"/>
              <a:buChar char=""/>
              <a:defRPr/>
            </a:pPr>
            <a:r>
              <a:rPr lang="sk" sz="2000" b="0" u="none" strike="noStrike">
                <a:solidFill>
                  <a:schemeClr val="dk1"/>
                </a:solidFill>
                <a:latin typeface="Aptos"/>
              </a:rPr>
              <a:t>Tretia úroveň</a:t>
            </a:r>
            <a:endParaRPr lang="sk" sz="2000" b="0" u="none" strike="noStrike">
              <a:solidFill>
                <a:schemeClr val="dk1"/>
              </a:solidFill>
              <a:latin typeface="Aptos"/>
            </a:endParaRPr>
          </a:p>
          <a:p>
            <a:pPr marL="1728000" lvl="3" indent="-216000" algn="l">
              <a:lnSpc>
                <a:spcPct val="112999"/>
              </a:lnSpc>
              <a:spcBef>
                <a:spcPts val="567"/>
              </a:spcBef>
              <a:buClr>
                <a:srgbClr val="FFFFFF"/>
              </a:buClr>
              <a:buSzPct val="75000"/>
              <a:buFont typeface="Symbol"/>
              <a:buChar char=""/>
              <a:defRPr/>
            </a:pPr>
            <a:r>
              <a:rPr lang="sk" sz="2000" b="0" u="none" strike="noStrike">
                <a:solidFill>
                  <a:schemeClr val="dk1"/>
                </a:solidFill>
                <a:latin typeface="Aptos"/>
              </a:rPr>
              <a:t>Štvrtá úroveň osnovy</a:t>
            </a:r>
            <a:endParaRPr lang="sk" sz="2000" b="0" u="none" strike="noStrike">
              <a:solidFill>
                <a:schemeClr val="dk1"/>
              </a:solidFill>
              <a:latin typeface="Aptos"/>
            </a:endParaRPr>
          </a:p>
          <a:p>
            <a:pPr marL="2160000" lvl="4" indent="-216000" algn="l">
              <a:lnSpc>
                <a:spcPct val="112999"/>
              </a:lnSpc>
              <a:spcBef>
                <a:spcPts val="283"/>
              </a:spcBef>
              <a:buClr>
                <a:srgbClr val="FFFFFF"/>
              </a:buClr>
              <a:buSzPct val="45000"/>
              <a:buFont typeface="Wingdings"/>
              <a:buChar char=""/>
              <a:defRPr/>
            </a:pPr>
            <a:r>
              <a:rPr lang="sk" sz="2000" b="0" u="none" strike="noStrike">
                <a:solidFill>
                  <a:schemeClr val="dk1"/>
                </a:solidFill>
                <a:latin typeface="Aptos"/>
              </a:rPr>
              <a:t>Piata úroveň osnovy</a:t>
            </a:r>
            <a:endParaRPr lang="sk" sz="2000" b="0" u="none" strike="noStrike">
              <a:solidFill>
                <a:schemeClr val="dk1"/>
              </a:solidFill>
              <a:latin typeface="Aptos"/>
            </a:endParaRPr>
          </a:p>
          <a:p>
            <a:pPr marL="2592000" lvl="5" indent="-216000" algn="l">
              <a:lnSpc>
                <a:spcPct val="112999"/>
              </a:lnSpc>
              <a:spcBef>
                <a:spcPts val="283"/>
              </a:spcBef>
              <a:buClr>
                <a:srgbClr val="FFFFFF"/>
              </a:buClr>
              <a:buSzPct val="45000"/>
              <a:buFont typeface="Wingdings"/>
              <a:buChar char=""/>
              <a:defRPr/>
            </a:pPr>
            <a:r>
              <a:rPr lang="sk" sz="2000" b="0" u="none" strike="noStrike">
                <a:solidFill>
                  <a:schemeClr val="dk1"/>
                </a:solidFill>
                <a:latin typeface="Aptos"/>
              </a:rPr>
              <a:t>Šiesta úroveň</a:t>
            </a:r>
            <a:endParaRPr lang="sk" sz="2000" b="0" u="none" strike="noStrike">
              <a:solidFill>
                <a:schemeClr val="dk1"/>
              </a:solidFill>
              <a:latin typeface="Aptos"/>
            </a:endParaRPr>
          </a:p>
          <a:p>
            <a:pPr marL="3024000" lvl="6" indent="-216000" algn="l">
              <a:lnSpc>
                <a:spcPct val="112999"/>
              </a:lnSpc>
              <a:spcBef>
                <a:spcPts val="283"/>
              </a:spcBef>
              <a:buClr>
                <a:srgbClr val="FFFFFF"/>
              </a:buClr>
              <a:buSzPct val="45000"/>
              <a:buFont typeface="Wingdings"/>
              <a:buChar char=""/>
              <a:defRPr/>
            </a:pPr>
            <a:r>
              <a:rPr lang="sk" sz="2000" b="0" u="none" strike="noStrike">
                <a:solidFill>
                  <a:schemeClr val="dk1"/>
                </a:solidFill>
                <a:latin typeface="Aptos"/>
              </a:rPr>
              <a:t>Siedma úroveň</a:t>
            </a:r>
            <a:endParaRPr lang="sk" sz="2000" b="0" u="none" strike="noStrike">
              <a:solidFill>
                <a:schemeClr val="dk1"/>
              </a:solidFill>
              <a:latin typeface="Aptos"/>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6111F"/>
        </a:solidFill>
      </p:bgPr>
    </p:bg>
    <p:spTree>
      <p:nvGrpSpPr>
        <p:cNvPr id="1" name=""/>
        <p:cNvGrpSpPr/>
        <p:nvPr/>
      </p:nvGrpSpPr>
      <p:grpSpPr bwMode="auto">
        <a:xfrm>
          <a:off x="0" y="0"/>
          <a:ext cx="0" cy="0"/>
          <a:chOff x="0" y="0"/>
          <a:chExt cx="0" cy="0"/>
        </a:xfrm>
      </p:grpSpPr>
      <p:pic>
        <p:nvPicPr>
          <p:cNvPr id="1278116692" name="Image 0" descr="/mnt/data/bg_cmd_dark.png"/>
          <p:cNvPicPr/>
          <p:nvPr/>
        </p:nvPicPr>
        <p:blipFill rotWithShape="1">
          <a:blip r:embed="rId3"/>
          <a:stretch/>
        </p:blipFill>
        <p:spPr bwMode="auto">
          <a:xfrm>
            <a:off x="0" y="0"/>
            <a:ext cx="12191400" cy="6857640"/>
          </a:xfrm>
          <a:prstGeom prst="rect">
            <a:avLst/>
          </a:prstGeom>
          <a:noFill/>
          <a:ln w="0">
            <a:noFill/>
          </a:ln>
        </p:spPr>
      </p:pic>
      <p:sp>
        <p:nvSpPr>
          <p:cNvPr id="1410946125" name="Text 1"/>
          <p:cNvSpPr/>
          <p:nvPr/>
        </p:nvSpPr>
        <p:spPr bwMode="auto">
          <a:xfrm>
            <a:off x="795600" y="784440"/>
            <a:ext cx="1855800" cy="145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50" b="1" u="none" strike="noStrike">
                <a:solidFill>
                  <a:srgbClr val="FFFFFF"/>
                </a:solidFill>
                <a:latin typeface="Aptos"/>
              </a:rPr>
              <a:t>LIGHTNING TALK · 5–6 MIN</a:t>
            </a:r>
            <a:endParaRPr lang="sk" sz="850" b="0" u="none" strike="noStrike">
              <a:solidFill>
                <a:srgbClr val="FFFFFF"/>
              </a:solidFill>
              <a:latin typeface="Calibri"/>
            </a:endParaRPr>
          </a:p>
        </p:txBody>
      </p:sp>
      <p:sp>
        <p:nvSpPr>
          <p:cNvPr id="1073848428" name="Text 2"/>
          <p:cNvSpPr/>
          <p:nvPr/>
        </p:nvSpPr>
        <p:spPr bwMode="auto">
          <a:xfrm flipH="0" flipV="0">
            <a:off x="658439" y="1234439"/>
            <a:ext cx="10728391" cy="666360"/>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ctr" anchorCtr="0" forceAA="0" upright="0" compatLnSpc="0">
            <a:normAutofit fontScale="90000" lnSpcReduction="2000"/>
          </a:bodyPr>
          <a:p>
            <a:pPr algn="ctr" defTabSz="914400">
              <a:lnSpc>
                <a:spcPct val="100000"/>
              </a:lnSpc>
              <a:tabLst>
                <a:tab pos="0" algn="l"/>
              </a:tabLst>
              <a:defRPr/>
            </a:pPr>
            <a:r>
              <a:rPr lang="en-US" sz="5000" b="1" u="none" strike="noStrike">
                <a:solidFill>
                  <a:srgbClr val="FFFFFF"/>
                </a:solidFill>
                <a:latin typeface="Ubuntu"/>
                <a:ea typeface="Ubuntu"/>
                <a:cs typeface="Ubuntu"/>
              </a:rPr>
              <a:t>Nextcloud snap</a:t>
            </a:r>
            <a:endParaRPr lang="sk" sz="5000" b="0" u="none" strike="noStrike">
              <a:solidFill>
                <a:srgbClr val="FFFFFF"/>
              </a:solidFill>
              <a:latin typeface="Calibri"/>
            </a:endParaRPr>
          </a:p>
        </p:txBody>
      </p:sp>
      <p:sp>
        <p:nvSpPr>
          <p:cNvPr id="87450882" name="Text 3"/>
          <p:cNvSpPr/>
          <p:nvPr/>
        </p:nvSpPr>
        <p:spPr bwMode="auto">
          <a:xfrm flipH="0" flipV="0">
            <a:off x="694800" y="2267639"/>
            <a:ext cx="9761682" cy="744917"/>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ctr" anchorCtr="0" forceAA="0" upright="0" compatLnSpc="0">
            <a:normAutofit/>
          </a:bodyPr>
          <a:p>
            <a:pPr algn="l" defTabSz="914400">
              <a:lnSpc>
                <a:spcPct val="100000"/>
              </a:lnSpc>
              <a:tabLst>
                <a:tab pos="0" algn="l"/>
              </a:tabLst>
              <a:defRPr/>
            </a:pPr>
            <a:r>
              <a:rPr lang="en-US" sz="1650" b="0" u="none" strike="noStrike">
                <a:solidFill>
                  <a:srgbClr val="E8F6FF"/>
                </a:solidFill>
                <a:latin typeface="Ubuntu"/>
                <a:ea typeface="Ubuntu"/>
                <a:cs typeface="Ubuntu"/>
              </a:rPr>
              <a:t>A </a:t>
            </a:r>
            <a:r>
              <a:rPr lang="en-GB" sz="1650" b="0" i="0" u="none" strike="noStrike" cap="none" spc="0">
                <a:solidFill>
                  <a:schemeClr val="bg1"/>
                </a:solidFill>
                <a:latin typeface="Ubuntu"/>
                <a:ea typeface="Ubuntu"/>
                <a:cs typeface="Ubuntu"/>
              </a:rPr>
              <a:t>preconfigured default upstream Nextcloud deployed </a:t>
            </a:r>
            <a:r>
              <a:rPr lang="en-GB" sz="1650" b="0" i="0" u="none" strike="noStrike" cap="none" spc="0">
                <a:solidFill>
                  <a:schemeClr val="bg1"/>
                </a:solidFill>
                <a:latin typeface="Ubuntu"/>
                <a:ea typeface="Ubuntu"/>
                <a:cs typeface="Ubuntu"/>
              </a:rPr>
              <a:t>on any Ubuntu device within minutes with a single </a:t>
            </a:r>
            <a:r>
              <a:rPr lang="en-GB" sz="1650" b="0" i="0" u="none" strike="noStrike" cap="none" spc="0">
                <a:solidFill>
                  <a:schemeClr val="bg1"/>
                </a:solidFill>
                <a:latin typeface="Ubuntu"/>
                <a:ea typeface="Ubuntu"/>
                <a:cs typeface="Ubuntu"/>
              </a:rPr>
              <a:t>shell </a:t>
            </a:r>
            <a:r>
              <a:rPr lang="en-GB" sz="1650" b="0" i="0" u="none" strike="noStrike" cap="none" spc="0">
                <a:solidFill>
                  <a:schemeClr val="bg1"/>
                </a:solidFill>
                <a:latin typeface="Ubuntu"/>
                <a:ea typeface="Ubuntu"/>
                <a:cs typeface="Ubuntu"/>
              </a:rPr>
              <a:t>command</a:t>
            </a:r>
            <a:r>
              <a:rPr lang="en-US" sz="1650" b="0" u="none" strike="noStrike">
                <a:solidFill>
                  <a:srgbClr val="E8F6FF"/>
                </a:solidFill>
                <a:latin typeface="Ubuntu"/>
                <a:ea typeface="Ubuntu"/>
                <a:cs typeface="Ubuntu"/>
              </a:rPr>
              <a:t> </a:t>
            </a:r>
            <a:endParaRPr lang="sk" sz="1650" b="0" u="none" strike="noStrike">
              <a:solidFill>
                <a:srgbClr val="FFFFFF"/>
              </a:solidFill>
              <a:latin typeface="Calibri"/>
            </a:endParaRPr>
          </a:p>
        </p:txBody>
      </p:sp>
      <p:sp>
        <p:nvSpPr>
          <p:cNvPr id="126624479" name="Shape 4"/>
          <p:cNvSpPr/>
          <p:nvPr/>
        </p:nvSpPr>
        <p:spPr bwMode="auto">
          <a:xfrm>
            <a:off x="694800" y="3081600"/>
            <a:ext cx="4617360" cy="694440"/>
          </a:xfrm>
          <a:prstGeom prst="roundRect">
            <a:avLst>
              <a:gd name="adj" fmla="val 11842"/>
            </a:avLst>
          </a:prstGeom>
          <a:solidFill>
            <a:srgbClr val="020A12"/>
          </a:solidFill>
          <a:ln w="12700">
            <a:solidFill>
              <a:srgbClr val="30D6FF">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rgbClr val="FFFFFF"/>
              </a:solidFill>
              <a:latin typeface="Calibri"/>
            </a:endParaRPr>
          </a:p>
        </p:txBody>
      </p:sp>
      <p:sp>
        <p:nvSpPr>
          <p:cNvPr id="1399994618" name="Text 5"/>
          <p:cNvSpPr/>
          <p:nvPr/>
        </p:nvSpPr>
        <p:spPr bwMode="auto">
          <a:xfrm>
            <a:off x="965160" y="3270897"/>
            <a:ext cx="407772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1850" b="1" u="none" strike="noStrike">
                <a:solidFill>
                  <a:schemeClr val="bg1"/>
                </a:solidFill>
                <a:highlight>
                  <a:srgbClr val="000000"/>
                </a:highlight>
                <a:latin typeface="Ubuntu Mono"/>
                <a:ea typeface="Ubuntu Mono"/>
                <a:cs typeface="Ubuntu Mono"/>
              </a:rPr>
              <a:t>sudo snap install nextcloud</a:t>
            </a:r>
            <a:endParaRPr lang="sk" sz="1850" b="0" u="none" strike="noStrike">
              <a:solidFill>
                <a:srgbClr val="FFFFFF"/>
              </a:solidFill>
              <a:latin typeface="Calibri"/>
            </a:endParaRPr>
          </a:p>
        </p:txBody>
      </p:sp>
      <p:sp>
        <p:nvSpPr>
          <p:cNvPr id="1646493963" name="Text 6"/>
          <p:cNvSpPr/>
          <p:nvPr/>
        </p:nvSpPr>
        <p:spPr bwMode="auto">
          <a:xfrm>
            <a:off x="731520" y="4892039"/>
            <a:ext cx="155412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2700" b="1" u="none" strike="noStrike">
                <a:solidFill>
                  <a:srgbClr val="30D6FF"/>
                </a:solidFill>
                <a:latin typeface="Aptos Display"/>
                <a:ea typeface="Aptos Display"/>
              </a:rPr>
              <a:t>1</a:t>
            </a:r>
            <a:endParaRPr lang="sk" sz="2700" b="0" u="none" strike="noStrike">
              <a:solidFill>
                <a:srgbClr val="FFFFFF"/>
              </a:solidFill>
              <a:latin typeface="Calibri"/>
            </a:endParaRPr>
          </a:p>
        </p:txBody>
      </p:sp>
      <p:sp>
        <p:nvSpPr>
          <p:cNvPr id="72758283" name="Text 7"/>
          <p:cNvSpPr/>
          <p:nvPr/>
        </p:nvSpPr>
        <p:spPr bwMode="auto">
          <a:xfrm>
            <a:off x="731520" y="5367600"/>
            <a:ext cx="1554120" cy="292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950" b="1" u="none" strike="noStrike">
                <a:solidFill>
                  <a:srgbClr val="B9CBDA"/>
                </a:solidFill>
                <a:latin typeface="Aptos"/>
              </a:rPr>
              <a:t>command</a:t>
            </a:r>
            <a:endParaRPr lang="sk" sz="950" b="0" u="none" strike="noStrike">
              <a:solidFill>
                <a:srgbClr val="FFFFFF"/>
              </a:solidFill>
              <a:latin typeface="Calibri"/>
            </a:endParaRPr>
          </a:p>
        </p:txBody>
      </p:sp>
      <p:sp>
        <p:nvSpPr>
          <p:cNvPr id="1466212716" name="Text 8"/>
          <p:cNvSpPr/>
          <p:nvPr/>
        </p:nvSpPr>
        <p:spPr bwMode="auto">
          <a:xfrm>
            <a:off x="2395800" y="4892039"/>
            <a:ext cx="155412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2700" b="1" u="none" strike="noStrike">
                <a:solidFill>
                  <a:srgbClr val="FF8A2A"/>
                </a:solidFill>
                <a:latin typeface="Aptos Display"/>
                <a:ea typeface="Aptos Display"/>
              </a:rPr>
              <a:t>10</a:t>
            </a:r>
            <a:endParaRPr lang="sk" sz="2700" b="0" u="none" strike="noStrike">
              <a:solidFill>
                <a:srgbClr val="FFFFFF"/>
              </a:solidFill>
              <a:latin typeface="Calibri"/>
            </a:endParaRPr>
          </a:p>
        </p:txBody>
      </p:sp>
      <p:sp>
        <p:nvSpPr>
          <p:cNvPr id="307225943" name="Text 9"/>
          <p:cNvSpPr/>
          <p:nvPr/>
        </p:nvSpPr>
        <p:spPr bwMode="auto">
          <a:xfrm>
            <a:off x="2395800" y="5367600"/>
            <a:ext cx="1554120" cy="292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950" b="1" u="none" strike="noStrike">
                <a:solidFill>
                  <a:srgbClr val="B9CBDA"/>
                </a:solidFill>
                <a:latin typeface="Aptos"/>
              </a:rPr>
              <a:t>years of focus</a:t>
            </a:r>
            <a:endParaRPr lang="sk" sz="950" b="0" u="none" strike="noStrike">
              <a:solidFill>
                <a:srgbClr val="FFFFFF"/>
              </a:solidFill>
              <a:latin typeface="Calibri"/>
            </a:endParaRPr>
          </a:p>
        </p:txBody>
      </p:sp>
      <p:sp>
        <p:nvSpPr>
          <p:cNvPr id="318818715" name="Text 10"/>
          <p:cNvSpPr/>
          <p:nvPr/>
        </p:nvSpPr>
        <p:spPr bwMode="auto">
          <a:xfrm>
            <a:off x="4060080" y="4892039"/>
            <a:ext cx="19656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2700" b="1" u="none" strike="noStrike">
                <a:solidFill>
                  <a:srgbClr val="52E2A8"/>
                </a:solidFill>
                <a:latin typeface="Aptos Display"/>
                <a:ea typeface="Aptos Display"/>
              </a:rPr>
              <a:t>0</a:t>
            </a:r>
            <a:endParaRPr lang="sk" sz="2700" b="0" u="none" strike="noStrike">
              <a:solidFill>
                <a:srgbClr val="FFFFFF"/>
              </a:solidFill>
              <a:latin typeface="Calibri"/>
            </a:endParaRPr>
          </a:p>
        </p:txBody>
      </p:sp>
      <p:sp>
        <p:nvSpPr>
          <p:cNvPr id="1536851394" name="Text 11"/>
          <p:cNvSpPr/>
          <p:nvPr/>
        </p:nvSpPr>
        <p:spPr bwMode="auto">
          <a:xfrm>
            <a:off x="4060080" y="5367600"/>
            <a:ext cx="1965600" cy="292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950" b="1" u="none" strike="noStrike">
                <a:solidFill>
                  <a:srgbClr val="B9CBDA"/>
                </a:solidFill>
                <a:latin typeface="Aptos"/>
              </a:rPr>
              <a:t>manual stack setup</a:t>
            </a:r>
            <a:endParaRPr lang="sk" sz="950" b="0" u="none" strike="noStrike">
              <a:solidFill>
                <a:srgbClr val="FFFFFF"/>
              </a:solidFill>
              <a:latin typeface="Calibri"/>
            </a:endParaRPr>
          </a:p>
        </p:txBody>
      </p:sp>
      <p:sp>
        <p:nvSpPr>
          <p:cNvPr id="134308464" name="Rounded Rectangle 14"/>
          <p:cNvSpPr/>
          <p:nvPr/>
        </p:nvSpPr>
        <p:spPr bwMode="auto">
          <a:xfrm>
            <a:off x="585360" y="356760"/>
            <a:ext cx="4429800" cy="652680"/>
          </a:xfrm>
          <a:prstGeom prst="roundRect">
            <a:avLst>
              <a:gd name="adj" fmla="val 16667"/>
            </a:avLst>
          </a:prstGeom>
          <a:solidFill>
            <a:srgbClr val="000000"/>
          </a:solidFill>
          <a:ln>
            <a:solidFill>
              <a:srgbClr val="0082C9"/>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defRPr/>
            </a:pPr>
            <a:endParaRPr lang="sk" sz="1800" b="0" u="none" strike="noStrike">
              <a:solidFill>
                <a:schemeClr val="lt1"/>
              </a:solidFill>
              <a:latin typeface="Aptos"/>
            </a:endParaRPr>
          </a:p>
        </p:txBody>
      </p:sp>
      <p:pic>
        <p:nvPicPr>
          <p:cNvPr id="892462103" name="Picture 15" descr="nextcloud_icon_white.png"/>
          <p:cNvPicPr/>
          <p:nvPr/>
        </p:nvPicPr>
        <p:blipFill rotWithShape="1">
          <a:blip r:embed="rId4"/>
          <a:stretch/>
        </p:blipFill>
        <p:spPr bwMode="auto">
          <a:xfrm>
            <a:off x="694800" y="420480"/>
            <a:ext cx="882360" cy="434880"/>
          </a:xfrm>
          <a:prstGeom prst="rect">
            <a:avLst/>
          </a:prstGeom>
          <a:noFill/>
          <a:ln w="0">
            <a:noFill/>
          </a:ln>
        </p:spPr>
      </p:pic>
      <p:sp>
        <p:nvSpPr>
          <p:cNvPr id="1654026293" name="TextBox 16"/>
          <p:cNvSpPr/>
          <p:nvPr/>
        </p:nvSpPr>
        <p:spPr bwMode="auto">
          <a:xfrm>
            <a:off x="1549800" y="412920"/>
            <a:ext cx="2673360" cy="388439"/>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defRPr/>
            </a:pPr>
            <a:r>
              <a:rPr lang="sk" sz="2200" b="1" u="none" strike="noStrike">
                <a:solidFill>
                  <a:srgbClr val="FFFFFF"/>
                </a:solidFill>
                <a:latin typeface="Aptos"/>
              </a:rPr>
              <a:t>Nextcloud</a:t>
            </a:r>
            <a:endParaRPr lang="sk" sz="2200" b="0" u="none" strike="noStrike">
              <a:solidFill>
                <a:srgbClr val="FFFFFF"/>
              </a:solidFill>
              <a:latin typeface="Calibri"/>
            </a:endParaRPr>
          </a:p>
        </p:txBody>
      </p:sp>
      <p:sp>
        <p:nvSpPr>
          <p:cNvPr id="1975533078" name="Rounded Rectangle 17"/>
          <p:cNvSpPr/>
          <p:nvPr/>
        </p:nvSpPr>
        <p:spPr bwMode="auto">
          <a:xfrm>
            <a:off x="4037040" y="443880"/>
            <a:ext cx="745920" cy="341640"/>
          </a:xfrm>
          <a:prstGeom prst="roundRect">
            <a:avLst>
              <a:gd name="adj" fmla="val 16667"/>
            </a:avLst>
          </a:prstGeom>
          <a:solidFill>
            <a:srgbClr val="0082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914400">
              <a:lnSpc>
                <a:spcPct val="100000"/>
              </a:lnSpc>
              <a:defRPr/>
            </a:pPr>
            <a:r>
              <a:rPr lang="sk" sz="1100" b="1" u="none" strike="noStrike">
                <a:solidFill>
                  <a:srgbClr val="FFFFFF"/>
                </a:solidFill>
                <a:latin typeface="Aptos"/>
              </a:rPr>
              <a:t>SNAP</a:t>
            </a:r>
            <a:endParaRPr lang="sk" sz="1100" b="0" u="none" strike="noStrike">
              <a:solidFill>
                <a:srgbClr val="FFFFFF"/>
              </a:solidFill>
              <a:latin typeface="Calibri"/>
            </a:endParaRPr>
          </a:p>
        </p:txBody>
      </p:sp>
      <p:sp>
        <p:nvSpPr>
          <p:cNvPr id="1532984728" name="Text 3"/>
          <p:cNvSpPr/>
          <p:nvPr/>
        </p:nvSpPr>
        <p:spPr bwMode="auto">
          <a:xfrm flipH="0" flipV="0">
            <a:off x="7379640" y="4614777"/>
            <a:ext cx="4638853" cy="2242862"/>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t" anchorCtr="0" forceAA="0" upright="0" compatLnSpc="0">
            <a:normAutofit/>
          </a:bodyPr>
          <a:p>
            <a:pPr marL="261850" indent="-261850" defTabSz="914400">
              <a:lnSpc>
                <a:spcPct val="100000"/>
              </a:lnSpc>
              <a:buFont typeface="Arial"/>
              <a:buChar char="•"/>
              <a:tabLst>
                <a:tab pos="0" algn="l"/>
              </a:tabLst>
              <a:defRPr/>
            </a:pPr>
            <a:r>
              <a:rPr lang="sk" sz="1800" b="0" u="none" strike="noStrike">
                <a:solidFill>
                  <a:srgbClr val="FFFFFF"/>
                </a:solidFill>
                <a:latin typeface="Ubuntu"/>
                <a:ea typeface="Ubuntu"/>
                <a:cs typeface="Ubuntu"/>
              </a:rPr>
              <a:t>Sane presets</a:t>
            </a:r>
            <a:endParaRPr sz="1800" b="0" u="none" strike="noStrike">
              <a:solidFill>
                <a:srgbClr val="FFFFFF"/>
              </a:solidFill>
              <a:latin typeface="Ubuntu"/>
              <a:ea typeface="Ubuntu"/>
              <a:cs typeface="Ubuntu"/>
            </a:endParaRPr>
          </a:p>
          <a:p>
            <a:pPr marL="261850" indent="-261850" defTabSz="914400">
              <a:lnSpc>
                <a:spcPct val="100000"/>
              </a:lnSpc>
              <a:buFont typeface="Arial"/>
              <a:buChar char="•"/>
              <a:tabLst>
                <a:tab pos="0" algn="l"/>
              </a:tabLst>
              <a:defRPr/>
            </a:pPr>
            <a:r>
              <a:rPr lang="sk" sz="1800" b="0" u="none" strike="noStrike">
                <a:solidFill>
                  <a:srgbClr val="FFFFFF"/>
                </a:solidFill>
                <a:latin typeface="Ubuntu"/>
                <a:ea typeface="Ubuntu"/>
                <a:cs typeface="Ubuntu"/>
              </a:rPr>
              <a:t>Fully configurable</a:t>
            </a:r>
            <a:endParaRPr sz="1800" b="0" u="none" strike="noStrike">
              <a:solidFill>
                <a:srgbClr val="FFFFFF"/>
              </a:solidFill>
              <a:latin typeface="Ubuntu"/>
              <a:ea typeface="Ubuntu"/>
              <a:cs typeface="Ubuntu"/>
            </a:endParaRPr>
          </a:p>
          <a:p>
            <a:pPr marL="261849" indent="-261849" defTabSz="914400">
              <a:lnSpc>
                <a:spcPct val="100000"/>
              </a:lnSpc>
              <a:buFont typeface="Arial"/>
              <a:buChar char="•"/>
              <a:tabLst>
                <a:tab pos="0" algn="l"/>
              </a:tabLst>
              <a:defRPr/>
            </a:pPr>
            <a:r>
              <a:rPr lang="sk" sz="1800" b="0" u="none" strike="noStrike">
                <a:solidFill>
                  <a:srgbClr val="FFFFFF"/>
                </a:solidFill>
                <a:latin typeface="Ubuntu"/>
                <a:ea typeface="Ubuntu"/>
                <a:cs typeface="Ubuntu"/>
              </a:rPr>
              <a:t>Nextcloud groupware</a:t>
            </a:r>
            <a:endParaRPr sz="1800" b="0" u="none" strike="noStrike">
              <a:solidFill>
                <a:srgbClr val="FFFFFF"/>
              </a:solidFill>
              <a:latin typeface="Ubuntu"/>
              <a:ea typeface="Ubuntu"/>
              <a:cs typeface="Ubuntu"/>
            </a:endParaRPr>
          </a:p>
          <a:p>
            <a:pPr marL="261849" indent="-261849" defTabSz="914400">
              <a:lnSpc>
                <a:spcPct val="100000"/>
              </a:lnSpc>
              <a:buFont typeface="Arial"/>
              <a:buChar char="•"/>
              <a:tabLst>
                <a:tab pos="0" algn="l"/>
              </a:tabLst>
              <a:defRPr/>
            </a:pPr>
            <a:r>
              <a:rPr lang="en-GB" sz="1800" b="0" i="0" u="none" strike="noStrike" cap="none" spc="0">
                <a:solidFill>
                  <a:schemeClr val="bg1"/>
                </a:solidFill>
                <a:latin typeface="Ubuntu"/>
                <a:ea typeface="Ubuntu"/>
                <a:cs typeface="Ubuntu"/>
              </a:rPr>
              <a:t>Office, Mail, Talk included</a:t>
            </a:r>
            <a:endParaRPr sz="1800" b="0" u="none" strike="noStrike">
              <a:solidFill>
                <a:srgbClr val="FFFFFF"/>
              </a:solidFill>
              <a:latin typeface="Ubuntu"/>
              <a:ea typeface="Ubuntu"/>
              <a:cs typeface="Ubuntu"/>
            </a:endParaRPr>
          </a:p>
          <a:p>
            <a:pPr marL="261850" indent="-261850" defTabSz="914400">
              <a:lnSpc>
                <a:spcPct val="100000"/>
              </a:lnSpc>
              <a:buFont typeface="Arial"/>
              <a:buChar char="•"/>
              <a:tabLst>
                <a:tab pos="0" algn="l"/>
              </a:tabLst>
              <a:defRPr/>
            </a:pPr>
            <a:r>
              <a:rPr lang="sk" sz="1800" b="0" u="none" strike="noStrike">
                <a:solidFill>
                  <a:srgbClr val="FFFFFF"/>
                </a:solidFill>
                <a:latin typeface="Ubuntu"/>
                <a:ea typeface="Ubuntu"/>
                <a:cs typeface="Ubuntu"/>
              </a:rPr>
              <a:t>SSL encryption included</a:t>
            </a:r>
            <a:endParaRPr sz="1600" b="0" u="none" strike="noStrike">
              <a:solidFill>
                <a:srgbClr val="FFFFFF"/>
              </a:solidFill>
              <a:latin typeface="Ubuntu"/>
              <a:ea typeface="Ubuntu"/>
              <a:cs typeface="Ubuntu"/>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6111F"/>
        </a:solidFill>
      </p:bgPr>
    </p:bg>
    <p:spTree>
      <p:nvGrpSpPr>
        <p:cNvPr id="1" name=""/>
        <p:cNvGrpSpPr/>
        <p:nvPr/>
      </p:nvGrpSpPr>
      <p:grpSpPr bwMode="auto">
        <a:xfrm>
          <a:off x="0" y="0"/>
          <a:ext cx="0" cy="0"/>
          <a:chOff x="0" y="0"/>
          <a:chExt cx="0" cy="0"/>
        </a:xfrm>
      </p:grpSpPr>
      <p:pic>
        <p:nvPicPr>
          <p:cNvPr id="1631250549" name="Image 0" descr="/mnt/data/bg_mess_rightdark.png"/>
          <p:cNvPicPr/>
          <p:nvPr/>
        </p:nvPicPr>
        <p:blipFill rotWithShape="1">
          <a:blip r:embed="rId3"/>
          <a:stretch/>
        </p:blipFill>
        <p:spPr bwMode="auto">
          <a:xfrm>
            <a:off x="7919" y="0"/>
            <a:ext cx="12191400" cy="6857640"/>
          </a:xfrm>
          <a:prstGeom prst="rect">
            <a:avLst/>
          </a:prstGeom>
          <a:noFill/>
          <a:ln w="0">
            <a:noFill/>
          </a:ln>
        </p:spPr>
      </p:pic>
      <p:sp>
        <p:nvSpPr>
          <p:cNvPr id="1218344301" name="Text 1"/>
          <p:cNvSpPr/>
          <p:nvPr/>
        </p:nvSpPr>
        <p:spPr bwMode="auto">
          <a:xfrm>
            <a:off x="11292840" y="255960"/>
            <a:ext cx="36540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defRPr/>
            </a:pPr>
            <a:r>
              <a:rPr lang="en-US" sz="800" b="1" u="none" strike="noStrike">
                <a:solidFill>
                  <a:srgbClr val="B9CBDA"/>
                </a:solidFill>
                <a:latin typeface="Aptos"/>
                <a:ea typeface="Aptos"/>
              </a:rPr>
              <a:t>02</a:t>
            </a:r>
            <a:endParaRPr lang="sk" sz="800" b="0" u="none" strike="noStrike">
              <a:solidFill>
                <a:srgbClr val="FFFFFF"/>
              </a:solidFill>
              <a:latin typeface="Calibri"/>
            </a:endParaRPr>
          </a:p>
        </p:txBody>
      </p:sp>
      <p:sp>
        <p:nvSpPr>
          <p:cNvPr id="1008605221" name="Shape 2"/>
          <p:cNvSpPr/>
          <p:nvPr/>
        </p:nvSpPr>
        <p:spPr bwMode="auto">
          <a:xfrm>
            <a:off x="502920" y="566640"/>
            <a:ext cx="11201400" cy="360"/>
          </a:xfrm>
          <a:prstGeom prst="line">
            <a:avLst/>
          </a:prstGeom>
          <a:ln w="8890">
            <a:solidFill>
              <a:srgbClr val="31536B">
                <a:alpha val="65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1327142810" name="Shape 3"/>
          <p:cNvSpPr/>
          <p:nvPr/>
        </p:nvSpPr>
        <p:spPr bwMode="auto">
          <a:xfrm>
            <a:off x="6556320" y="914400"/>
            <a:ext cx="1416960" cy="383760"/>
          </a:xfrm>
          <a:prstGeom prst="roundRect">
            <a:avLst>
              <a:gd name="adj" fmla="val 21429"/>
            </a:avLst>
          </a:prstGeom>
          <a:solidFill>
            <a:srgbClr val="FF8A2A">
              <a:alpha val="97000"/>
            </a:srgbClr>
          </a:solidFill>
          <a:ln w="12700">
            <a:solidFill>
              <a:srgbClr val="FF8A2A">
                <a:alpha val="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921327785" name="Text 4"/>
          <p:cNvSpPr/>
          <p:nvPr/>
        </p:nvSpPr>
        <p:spPr bwMode="auto">
          <a:xfrm>
            <a:off x="6693480" y="1022400"/>
            <a:ext cx="1142640" cy="145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50" b="1" u="none" strike="noStrike">
                <a:solidFill>
                  <a:srgbClr val="FFFFFF"/>
                </a:solidFill>
                <a:latin typeface="Aptos"/>
              </a:rPr>
              <a:t>THE PROBLEM</a:t>
            </a:r>
            <a:endParaRPr lang="sk" sz="850" b="0" u="none" strike="noStrike">
              <a:solidFill>
                <a:srgbClr val="FFFFFF"/>
              </a:solidFill>
              <a:latin typeface="Calibri"/>
            </a:endParaRPr>
          </a:p>
        </p:txBody>
      </p:sp>
      <p:sp>
        <p:nvSpPr>
          <p:cNvPr id="1917120307" name="Text 5"/>
          <p:cNvSpPr/>
          <p:nvPr/>
        </p:nvSpPr>
        <p:spPr bwMode="auto">
          <a:xfrm>
            <a:off x="6528960" y="1389960"/>
            <a:ext cx="4955760" cy="959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defRPr/>
            </a:pPr>
            <a:r>
              <a:rPr lang="en-US" sz="3600" b="1" u="none" strike="noStrike">
                <a:solidFill>
                  <a:srgbClr val="FFFFFF"/>
                </a:solidFill>
                <a:latin typeface="Aptos Display"/>
                <a:ea typeface="Aptos Display"/>
              </a:rPr>
              <a:t>Before collaboration,</a:t>
            </a:r>
            <a:endParaRPr lang="sk" sz="3600" b="0" u="none" strike="noStrike">
              <a:solidFill>
                <a:srgbClr val="FFFFFF"/>
              </a:solidFill>
              <a:latin typeface="Calibri"/>
            </a:endParaRPr>
          </a:p>
          <a:p>
            <a:pPr defTabSz="914400">
              <a:lnSpc>
                <a:spcPct val="100000"/>
              </a:lnSpc>
              <a:tabLst>
                <a:tab pos="0" algn="l"/>
              </a:tabLst>
              <a:defRPr/>
            </a:pPr>
            <a:r>
              <a:rPr lang="en-US" sz="3600" b="1" u="none" strike="noStrike">
                <a:solidFill>
                  <a:srgbClr val="FFFFFF"/>
                </a:solidFill>
                <a:latin typeface="Aptos Display"/>
                <a:ea typeface="Aptos Display"/>
              </a:rPr>
              <a:t>there is infrastructure.</a:t>
            </a:r>
            <a:endParaRPr lang="sk" sz="3600" b="0" u="none" strike="noStrike">
              <a:solidFill>
                <a:srgbClr val="FFFFFF"/>
              </a:solidFill>
              <a:latin typeface="Calibri"/>
            </a:endParaRPr>
          </a:p>
        </p:txBody>
      </p:sp>
      <p:sp>
        <p:nvSpPr>
          <p:cNvPr id="1085637740" name="Text 6"/>
          <p:cNvSpPr/>
          <p:nvPr/>
        </p:nvSpPr>
        <p:spPr bwMode="auto">
          <a:xfrm>
            <a:off x="6565320" y="2853000"/>
            <a:ext cx="4480200" cy="51156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defRPr/>
            </a:pPr>
            <a:r>
              <a:rPr lang="en-US" sz="1450" b="0" u="none" strike="noStrike">
                <a:solidFill>
                  <a:srgbClr val="B9CBDA"/>
                </a:solidFill>
                <a:latin typeface="Aptos"/>
                <a:ea typeface="Aptos"/>
              </a:rPr>
              <a:t>Traditional self-hosting can ask a new user to understand every layer before they can share one file.</a:t>
            </a:r>
            <a:endParaRPr lang="sk" sz="1450" b="0" u="none" strike="noStrike">
              <a:solidFill>
                <a:srgbClr val="FFFFFF"/>
              </a:solidFill>
              <a:latin typeface="Calibri"/>
            </a:endParaRPr>
          </a:p>
        </p:txBody>
      </p:sp>
      <p:sp>
        <p:nvSpPr>
          <p:cNvPr id="171519326" name="Shape 7"/>
          <p:cNvSpPr/>
          <p:nvPr/>
        </p:nvSpPr>
        <p:spPr bwMode="auto">
          <a:xfrm>
            <a:off x="6574680" y="3703320"/>
            <a:ext cx="2239920" cy="822600"/>
          </a:xfrm>
          <a:prstGeom prst="roundRect">
            <a:avLst>
              <a:gd name="adj" fmla="val 13333"/>
            </a:avLst>
          </a:prstGeom>
          <a:solidFill>
            <a:srgbClr val="081B2A">
              <a:alpha val="91000"/>
            </a:srgbClr>
          </a:solidFill>
          <a:ln w="12700">
            <a:solidFill>
              <a:srgbClr val="30D6FF">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628712893" name="Text 8"/>
          <p:cNvSpPr/>
          <p:nvPr/>
        </p:nvSpPr>
        <p:spPr bwMode="auto">
          <a:xfrm>
            <a:off x="6739200" y="3849480"/>
            <a:ext cx="411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800" b="1" u="none" strike="noStrike">
                <a:solidFill>
                  <a:srgbClr val="30D6FF"/>
                </a:solidFill>
                <a:latin typeface="Aptos Display"/>
                <a:ea typeface="Aptos Display"/>
              </a:rPr>
              <a:t>01</a:t>
            </a:r>
            <a:endParaRPr lang="sk" sz="1800" b="0" u="none" strike="noStrike">
              <a:solidFill>
                <a:srgbClr val="FFFFFF"/>
              </a:solidFill>
              <a:latin typeface="Calibri"/>
            </a:endParaRPr>
          </a:p>
        </p:txBody>
      </p:sp>
      <p:sp>
        <p:nvSpPr>
          <p:cNvPr id="1502707372" name="Text 9"/>
          <p:cNvSpPr/>
          <p:nvPr/>
        </p:nvSpPr>
        <p:spPr bwMode="auto">
          <a:xfrm>
            <a:off x="7269480" y="3840480"/>
            <a:ext cx="1325520" cy="20088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400" b="1" u="none" strike="noStrike">
                <a:solidFill>
                  <a:srgbClr val="FFFFFF"/>
                </a:solidFill>
                <a:latin typeface="Aptos"/>
              </a:rPr>
              <a:t>Web server</a:t>
            </a:r>
            <a:endParaRPr lang="sk" sz="1400" b="0" u="none" strike="noStrike">
              <a:solidFill>
                <a:srgbClr val="FFFFFF"/>
              </a:solidFill>
              <a:latin typeface="Calibri"/>
            </a:endParaRPr>
          </a:p>
        </p:txBody>
      </p:sp>
      <p:sp>
        <p:nvSpPr>
          <p:cNvPr id="190236985" name="Text 10"/>
          <p:cNvSpPr/>
          <p:nvPr/>
        </p:nvSpPr>
        <p:spPr bwMode="auto">
          <a:xfrm>
            <a:off x="7269480" y="4133160"/>
            <a:ext cx="1325520" cy="347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defRPr/>
            </a:pPr>
            <a:r>
              <a:rPr lang="en-US" sz="950" b="0" u="none" strike="noStrike">
                <a:solidFill>
                  <a:srgbClr val="B9CBDA"/>
                </a:solidFill>
                <a:latin typeface="Aptos"/>
              </a:rPr>
              <a:t>Apache or Nginx, ports, redirects and TLS.</a:t>
            </a:r>
            <a:endParaRPr lang="sk" sz="950" b="0" u="none" strike="noStrike">
              <a:solidFill>
                <a:srgbClr val="FFFFFF"/>
              </a:solidFill>
              <a:latin typeface="Calibri"/>
            </a:endParaRPr>
          </a:p>
        </p:txBody>
      </p:sp>
      <p:sp>
        <p:nvSpPr>
          <p:cNvPr id="974345257" name="Shape 11"/>
          <p:cNvSpPr/>
          <p:nvPr/>
        </p:nvSpPr>
        <p:spPr bwMode="auto">
          <a:xfrm>
            <a:off x="9034200" y="3703320"/>
            <a:ext cx="2239920" cy="822600"/>
          </a:xfrm>
          <a:prstGeom prst="roundRect">
            <a:avLst>
              <a:gd name="adj" fmla="val 13333"/>
            </a:avLst>
          </a:prstGeom>
          <a:solidFill>
            <a:srgbClr val="081B2A">
              <a:alpha val="91000"/>
            </a:srgbClr>
          </a:solidFill>
          <a:ln w="12700">
            <a:solidFill>
              <a:srgbClr val="FF8A2A">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754440770" name="Text 12"/>
          <p:cNvSpPr/>
          <p:nvPr/>
        </p:nvSpPr>
        <p:spPr bwMode="auto">
          <a:xfrm>
            <a:off x="9198720" y="3849480"/>
            <a:ext cx="411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800" b="1" u="none" strike="noStrike">
                <a:solidFill>
                  <a:srgbClr val="FF8A2A"/>
                </a:solidFill>
                <a:latin typeface="Aptos Display"/>
                <a:ea typeface="Aptos Display"/>
              </a:rPr>
              <a:t>02</a:t>
            </a:r>
            <a:endParaRPr lang="sk" sz="1800" b="0" u="none" strike="noStrike">
              <a:solidFill>
                <a:srgbClr val="FFFFFF"/>
              </a:solidFill>
              <a:latin typeface="Calibri"/>
            </a:endParaRPr>
          </a:p>
        </p:txBody>
      </p:sp>
      <p:sp>
        <p:nvSpPr>
          <p:cNvPr id="1180497865" name="Text 13"/>
          <p:cNvSpPr/>
          <p:nvPr/>
        </p:nvSpPr>
        <p:spPr bwMode="auto">
          <a:xfrm>
            <a:off x="9729360" y="3840480"/>
            <a:ext cx="1325520" cy="20088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400" b="1" u="none" strike="noStrike">
                <a:solidFill>
                  <a:srgbClr val="FFFFFF"/>
                </a:solidFill>
                <a:latin typeface="Aptos"/>
              </a:rPr>
              <a:t>Runtime</a:t>
            </a:r>
            <a:endParaRPr lang="sk" sz="1400" b="0" u="none" strike="noStrike">
              <a:solidFill>
                <a:srgbClr val="FFFFFF"/>
              </a:solidFill>
              <a:latin typeface="Calibri"/>
            </a:endParaRPr>
          </a:p>
        </p:txBody>
      </p:sp>
      <p:sp>
        <p:nvSpPr>
          <p:cNvPr id="1296259097" name="Text 14"/>
          <p:cNvSpPr/>
          <p:nvPr/>
        </p:nvSpPr>
        <p:spPr bwMode="auto">
          <a:xfrm>
            <a:off x="9729360" y="4133160"/>
            <a:ext cx="1325520" cy="3470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defRPr/>
            </a:pPr>
            <a:r>
              <a:rPr lang="en-US" sz="950" b="0" u="none" strike="noStrike">
                <a:solidFill>
                  <a:srgbClr val="B9CBDA"/>
                </a:solidFill>
                <a:latin typeface="Aptos"/>
              </a:rPr>
              <a:t>PHP versions, modules, cron, limits.</a:t>
            </a:r>
            <a:endParaRPr lang="sk" sz="950" b="0" u="none" strike="noStrike">
              <a:solidFill>
                <a:srgbClr val="FFFFFF"/>
              </a:solidFill>
              <a:latin typeface="Calibri"/>
            </a:endParaRPr>
          </a:p>
        </p:txBody>
      </p:sp>
      <p:sp>
        <p:nvSpPr>
          <p:cNvPr id="286534893" name="Shape 15"/>
          <p:cNvSpPr/>
          <p:nvPr/>
        </p:nvSpPr>
        <p:spPr bwMode="auto">
          <a:xfrm>
            <a:off x="6574680" y="4736520"/>
            <a:ext cx="2239920" cy="822600"/>
          </a:xfrm>
          <a:prstGeom prst="roundRect">
            <a:avLst>
              <a:gd name="adj" fmla="val 13333"/>
            </a:avLst>
          </a:prstGeom>
          <a:solidFill>
            <a:srgbClr val="081B2A">
              <a:alpha val="91000"/>
            </a:srgbClr>
          </a:solidFill>
          <a:ln w="12700">
            <a:solidFill>
              <a:srgbClr val="795CFF">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971240926" name="Text 16"/>
          <p:cNvSpPr/>
          <p:nvPr/>
        </p:nvSpPr>
        <p:spPr bwMode="auto">
          <a:xfrm>
            <a:off x="6739200" y="4883039"/>
            <a:ext cx="411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800" b="1" u="none" strike="noStrike">
                <a:solidFill>
                  <a:srgbClr val="795CFF"/>
                </a:solidFill>
                <a:latin typeface="Aptos Display"/>
                <a:ea typeface="Aptos Display"/>
              </a:rPr>
              <a:t>03</a:t>
            </a:r>
            <a:endParaRPr lang="sk" sz="1800" b="0" u="none" strike="noStrike">
              <a:solidFill>
                <a:srgbClr val="FFFFFF"/>
              </a:solidFill>
              <a:latin typeface="Calibri"/>
            </a:endParaRPr>
          </a:p>
        </p:txBody>
      </p:sp>
      <p:sp>
        <p:nvSpPr>
          <p:cNvPr id="975708213" name="Text 17"/>
          <p:cNvSpPr/>
          <p:nvPr/>
        </p:nvSpPr>
        <p:spPr bwMode="auto">
          <a:xfrm>
            <a:off x="7269480" y="4873680"/>
            <a:ext cx="1325520" cy="20088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400" b="1" u="none" strike="noStrike">
                <a:solidFill>
                  <a:srgbClr val="FFFFFF"/>
                </a:solidFill>
                <a:latin typeface="Aptos"/>
              </a:rPr>
              <a:t>Data layer</a:t>
            </a:r>
            <a:endParaRPr lang="sk" sz="1400" b="0" u="none" strike="noStrike">
              <a:solidFill>
                <a:srgbClr val="FFFFFF"/>
              </a:solidFill>
              <a:latin typeface="Calibri"/>
            </a:endParaRPr>
          </a:p>
        </p:txBody>
      </p:sp>
      <p:sp>
        <p:nvSpPr>
          <p:cNvPr id="1682626247" name="Text 18"/>
          <p:cNvSpPr/>
          <p:nvPr/>
        </p:nvSpPr>
        <p:spPr bwMode="auto">
          <a:xfrm>
            <a:off x="7269480" y="5166360"/>
            <a:ext cx="1325520" cy="3470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defRPr/>
            </a:pPr>
            <a:r>
              <a:rPr lang="en-US" sz="950" b="0" u="none" strike="noStrike">
                <a:solidFill>
                  <a:srgbClr val="B9CBDA"/>
                </a:solidFill>
                <a:latin typeface="Aptos"/>
              </a:rPr>
              <a:t>Database, cache and storage paths.</a:t>
            </a:r>
            <a:endParaRPr lang="sk" sz="950" b="0" u="none" strike="noStrike">
              <a:solidFill>
                <a:srgbClr val="FFFFFF"/>
              </a:solidFill>
              <a:latin typeface="Calibri"/>
            </a:endParaRPr>
          </a:p>
        </p:txBody>
      </p:sp>
      <p:sp>
        <p:nvSpPr>
          <p:cNvPr id="1020593873" name="Shape 19"/>
          <p:cNvSpPr/>
          <p:nvPr/>
        </p:nvSpPr>
        <p:spPr bwMode="auto">
          <a:xfrm>
            <a:off x="9034200" y="4736520"/>
            <a:ext cx="2239920" cy="822600"/>
          </a:xfrm>
          <a:prstGeom prst="roundRect">
            <a:avLst>
              <a:gd name="adj" fmla="val 13333"/>
            </a:avLst>
          </a:prstGeom>
          <a:solidFill>
            <a:srgbClr val="081B2A">
              <a:alpha val="91000"/>
            </a:srgbClr>
          </a:solidFill>
          <a:ln w="12700">
            <a:solidFill>
              <a:srgbClr val="52E2A8">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20391516" name="Text 20"/>
          <p:cNvSpPr/>
          <p:nvPr/>
        </p:nvSpPr>
        <p:spPr bwMode="auto">
          <a:xfrm>
            <a:off x="9198720" y="4883039"/>
            <a:ext cx="411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800" b="1" u="none" strike="noStrike">
                <a:solidFill>
                  <a:srgbClr val="52E2A8"/>
                </a:solidFill>
                <a:latin typeface="Aptos Display"/>
                <a:ea typeface="Aptos Display"/>
              </a:rPr>
              <a:t>04</a:t>
            </a:r>
            <a:endParaRPr lang="sk" sz="1800" b="0" u="none" strike="noStrike">
              <a:solidFill>
                <a:srgbClr val="FFFFFF"/>
              </a:solidFill>
              <a:latin typeface="Calibri"/>
            </a:endParaRPr>
          </a:p>
        </p:txBody>
      </p:sp>
      <p:sp>
        <p:nvSpPr>
          <p:cNvPr id="70189093" name="Text 21"/>
          <p:cNvSpPr/>
          <p:nvPr/>
        </p:nvSpPr>
        <p:spPr bwMode="auto">
          <a:xfrm>
            <a:off x="9729360" y="4873680"/>
            <a:ext cx="1325520" cy="20088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400" b="1" u="none" strike="noStrike">
                <a:solidFill>
                  <a:srgbClr val="FFFFFF"/>
                </a:solidFill>
                <a:latin typeface="Aptos"/>
              </a:rPr>
              <a:t>Lifecycle</a:t>
            </a:r>
            <a:endParaRPr lang="sk" sz="1400" b="0" u="none" strike="noStrike">
              <a:solidFill>
                <a:srgbClr val="FFFFFF"/>
              </a:solidFill>
              <a:latin typeface="Calibri"/>
            </a:endParaRPr>
          </a:p>
        </p:txBody>
      </p:sp>
      <p:sp>
        <p:nvSpPr>
          <p:cNvPr id="688519996" name="Text 22"/>
          <p:cNvSpPr/>
          <p:nvPr/>
        </p:nvSpPr>
        <p:spPr bwMode="auto">
          <a:xfrm>
            <a:off x="9729360" y="5166360"/>
            <a:ext cx="1325520" cy="3470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defRPr/>
            </a:pPr>
            <a:r>
              <a:rPr lang="en-US" sz="950" b="0" u="none" strike="noStrike">
                <a:solidFill>
                  <a:srgbClr val="B9CBDA"/>
                </a:solidFill>
                <a:latin typeface="Aptos"/>
              </a:rPr>
              <a:t>Updates, backups and rollback thinking.</a:t>
            </a:r>
            <a:endParaRPr lang="sk" sz="950" b="0" u="none" strike="noStrike">
              <a:solidFill>
                <a:srgbClr val="FFFFFF"/>
              </a:solidFill>
              <a:latin typeface="Calibri"/>
            </a:endParaRPr>
          </a:p>
        </p:txBody>
      </p:sp>
      <p:sp>
        <p:nvSpPr>
          <p:cNvPr id="645385426" name="Rectangle 29"/>
          <p:cNvSpPr/>
          <p:nvPr/>
        </p:nvSpPr>
        <p:spPr bwMode="auto">
          <a:xfrm>
            <a:off x="502920" y="6336720"/>
            <a:ext cx="1234080" cy="31680"/>
          </a:xfrm>
          <a:prstGeom prst="rect">
            <a:avLst/>
          </a:prstGeom>
          <a:solidFill>
            <a:srgbClr val="0082C9"/>
          </a:solidFill>
          <a:ln>
            <a:noFill/>
          </a:ln>
        </p:spPr>
        <p:style>
          <a:lnRef idx="1">
            <a:schemeClr val="accent1"/>
          </a:lnRef>
          <a:fillRef idx="3">
            <a:schemeClr val="accent1"/>
          </a:fillRef>
          <a:effectRef idx="2">
            <a:schemeClr val="accent1"/>
          </a:effectRef>
          <a:fontRef idx="minor"/>
        </p:style>
        <p:txBody>
          <a:bodyPr lIns="90000" tIns="-12960" rIns="90000" bIns="-12960" anchor="ctr">
            <a:noAutofit/>
          </a:bodyPr>
          <a:p>
            <a:pPr>
              <a:defRPr/>
            </a:pPr>
            <a:endParaRPr lang="sk" sz="1800" b="0" u="none" strike="noStrike">
              <a:solidFill>
                <a:schemeClr val="lt1"/>
              </a:solidFill>
              <a:latin typeface="Aptos"/>
            </a:endParaRPr>
          </a:p>
        </p:txBody>
      </p:sp>
      <p:sp>
        <p:nvSpPr>
          <p:cNvPr id="752290274" name="Rounded Rectangle 14"/>
          <p:cNvSpPr/>
          <p:nvPr/>
        </p:nvSpPr>
        <p:spPr bwMode="auto">
          <a:xfrm>
            <a:off x="585360" y="356760"/>
            <a:ext cx="4429800" cy="652680"/>
          </a:xfrm>
          <a:prstGeom prst="roundRect">
            <a:avLst>
              <a:gd name="adj" fmla="val 16667"/>
            </a:avLst>
          </a:prstGeom>
          <a:solidFill>
            <a:srgbClr val="000000"/>
          </a:solidFill>
          <a:ln>
            <a:solidFill>
              <a:srgbClr val="0082C9"/>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defRPr/>
            </a:pPr>
            <a:endParaRPr lang="sk" sz="1800" b="0" u="none" strike="noStrike">
              <a:solidFill>
                <a:schemeClr val="lt1"/>
              </a:solidFill>
              <a:latin typeface="Aptos"/>
            </a:endParaRPr>
          </a:p>
        </p:txBody>
      </p:sp>
      <p:pic>
        <p:nvPicPr>
          <p:cNvPr id="411147810" name="Picture 15" descr="nextcloud_icon_white.png"/>
          <p:cNvPicPr/>
          <p:nvPr/>
        </p:nvPicPr>
        <p:blipFill rotWithShape="1">
          <a:blip r:embed="rId4"/>
          <a:stretch/>
        </p:blipFill>
        <p:spPr bwMode="auto">
          <a:xfrm>
            <a:off x="694800" y="420480"/>
            <a:ext cx="882360" cy="434880"/>
          </a:xfrm>
          <a:prstGeom prst="rect">
            <a:avLst/>
          </a:prstGeom>
          <a:noFill/>
          <a:ln w="0">
            <a:noFill/>
          </a:ln>
        </p:spPr>
      </p:pic>
      <p:sp>
        <p:nvSpPr>
          <p:cNvPr id="1567222640" name="TextBox 16"/>
          <p:cNvSpPr/>
          <p:nvPr/>
        </p:nvSpPr>
        <p:spPr bwMode="auto">
          <a:xfrm flipH="0" flipV="0">
            <a:off x="1549800" y="412920"/>
            <a:ext cx="2018390" cy="425639"/>
          </a:xfrm>
          <a:prstGeom prst="rect">
            <a:avLst/>
          </a:prstGeom>
          <a:noFill/>
          <a:ln w="0">
            <a:noFill/>
          </a:ln>
        </p:spPr>
        <p:style>
          <a:lnRef idx="0"/>
          <a:fillRef idx="0"/>
          <a:effectRef idx="0"/>
          <a:fontRef idx="minor"/>
        </p:style>
        <p:txBody>
          <a:bodyPr wrap="square" lIns="90000" tIns="45000" rIns="90000" bIns="45000" anchor="t">
            <a:spAutoFit/>
          </a:bodyPr>
          <a:p>
            <a:pPr defTabSz="914400">
              <a:lnSpc>
                <a:spcPct val="100000"/>
              </a:lnSpc>
              <a:defRPr/>
            </a:pPr>
            <a:r>
              <a:rPr lang="sk" sz="2200" b="1" u="none" strike="noStrike">
                <a:solidFill>
                  <a:srgbClr val="FFFFFF"/>
                </a:solidFill>
                <a:latin typeface="Aptos"/>
              </a:rPr>
              <a:t>Nextcloud</a:t>
            </a:r>
            <a:endParaRPr lang="sk" sz="2200" b="0" u="none" strike="noStrike">
              <a:solidFill>
                <a:srgbClr val="FFFFFF"/>
              </a:solidFill>
              <a:latin typeface="Calibri"/>
            </a:endParaRPr>
          </a:p>
        </p:txBody>
      </p:sp>
      <p:sp>
        <p:nvSpPr>
          <p:cNvPr id="693134268" name="Rounded Rectangle 17"/>
          <p:cNvSpPr/>
          <p:nvPr/>
        </p:nvSpPr>
        <p:spPr bwMode="auto">
          <a:xfrm>
            <a:off x="4037040" y="443880"/>
            <a:ext cx="745920" cy="341640"/>
          </a:xfrm>
          <a:prstGeom prst="roundRect">
            <a:avLst>
              <a:gd name="adj" fmla="val 16667"/>
            </a:avLst>
          </a:prstGeom>
          <a:solidFill>
            <a:srgbClr val="0082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914400">
              <a:lnSpc>
                <a:spcPct val="100000"/>
              </a:lnSpc>
              <a:defRPr/>
            </a:pPr>
            <a:r>
              <a:rPr lang="sk" sz="1100" b="1" u="none" strike="noStrike">
                <a:solidFill>
                  <a:srgbClr val="FFFFFF"/>
                </a:solidFill>
                <a:latin typeface="Aptos"/>
              </a:rPr>
              <a:t>SNAP</a:t>
            </a:r>
            <a:endParaRPr lang="sk" sz="1100" b="0" u="none" strike="noStrike">
              <a:solidFill>
                <a:srgbClr val="FFFFFF"/>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6111F"/>
        </a:solidFill>
      </p:bgPr>
    </p:bg>
    <p:spTree>
      <p:nvGrpSpPr>
        <p:cNvPr id="1" name=""/>
        <p:cNvGrpSpPr/>
        <p:nvPr/>
      </p:nvGrpSpPr>
      <p:grpSpPr bwMode="auto">
        <a:xfrm>
          <a:off x="0" y="0"/>
          <a:ext cx="0" cy="0"/>
          <a:chOff x="0" y="0"/>
          <a:chExt cx="0" cy="0"/>
        </a:xfrm>
      </p:grpSpPr>
      <p:pic>
        <p:nvPicPr>
          <p:cNvPr id="1937299201" name="Image 0" descr="/mnt/data/bg_stack_light.png"/>
          <p:cNvPicPr/>
          <p:nvPr/>
        </p:nvPicPr>
        <p:blipFill rotWithShape="1">
          <a:blip r:embed="rId3"/>
          <a:stretch/>
        </p:blipFill>
        <p:spPr bwMode="auto">
          <a:xfrm>
            <a:off x="7919" y="180"/>
            <a:ext cx="12191400" cy="6857640"/>
          </a:xfrm>
          <a:prstGeom prst="rect">
            <a:avLst/>
          </a:prstGeom>
          <a:noFill/>
          <a:ln w="0">
            <a:noFill/>
          </a:ln>
        </p:spPr>
      </p:pic>
      <p:sp>
        <p:nvSpPr>
          <p:cNvPr id="566508180" name="Text 1"/>
          <p:cNvSpPr/>
          <p:nvPr/>
        </p:nvSpPr>
        <p:spPr bwMode="auto">
          <a:xfrm>
            <a:off x="11292840" y="255960"/>
            <a:ext cx="36540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defRPr/>
            </a:pPr>
            <a:r>
              <a:rPr lang="en-US" sz="800" b="1" u="none" strike="noStrike">
                <a:solidFill>
                  <a:srgbClr val="B9CBDA"/>
                </a:solidFill>
                <a:latin typeface="Aptos"/>
                <a:ea typeface="Aptos"/>
              </a:rPr>
              <a:t>03</a:t>
            </a:r>
            <a:endParaRPr lang="sk" sz="800" b="0" u="none" strike="noStrike">
              <a:solidFill>
                <a:srgbClr val="FFFFFF"/>
              </a:solidFill>
              <a:latin typeface="Calibri"/>
            </a:endParaRPr>
          </a:p>
        </p:txBody>
      </p:sp>
      <p:sp>
        <p:nvSpPr>
          <p:cNvPr id="15007048" name="Shape 2"/>
          <p:cNvSpPr/>
          <p:nvPr/>
        </p:nvSpPr>
        <p:spPr bwMode="auto">
          <a:xfrm>
            <a:off x="502920" y="566640"/>
            <a:ext cx="11201400" cy="360"/>
          </a:xfrm>
          <a:prstGeom prst="line">
            <a:avLst/>
          </a:prstGeom>
          <a:ln w="8890">
            <a:solidFill>
              <a:srgbClr val="31536B">
                <a:alpha val="65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92360709" name="Shape 3"/>
          <p:cNvSpPr/>
          <p:nvPr/>
        </p:nvSpPr>
        <p:spPr bwMode="auto">
          <a:xfrm>
            <a:off x="658440" y="841320"/>
            <a:ext cx="1691280" cy="383760"/>
          </a:xfrm>
          <a:prstGeom prst="roundRect">
            <a:avLst>
              <a:gd name="adj" fmla="val 21429"/>
            </a:avLst>
          </a:prstGeom>
          <a:solidFill>
            <a:srgbClr val="0082C9">
              <a:alpha val="96000"/>
            </a:srgbClr>
          </a:solidFill>
          <a:ln w="12700">
            <a:solidFill>
              <a:srgbClr val="0082C9">
                <a:alpha val="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173212664" name="Text 4"/>
          <p:cNvSpPr/>
          <p:nvPr/>
        </p:nvSpPr>
        <p:spPr bwMode="auto">
          <a:xfrm>
            <a:off x="795600" y="949320"/>
            <a:ext cx="1416960" cy="145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50" b="1" u="none" strike="noStrike">
                <a:solidFill>
                  <a:srgbClr val="FFFFFF"/>
                </a:solidFill>
                <a:latin typeface="Aptos"/>
              </a:rPr>
              <a:t>THE APPROACH</a:t>
            </a:r>
            <a:endParaRPr lang="sk" sz="850" b="0" u="none" strike="noStrike">
              <a:solidFill>
                <a:srgbClr val="FFFFFF"/>
              </a:solidFill>
              <a:latin typeface="Calibri"/>
            </a:endParaRPr>
          </a:p>
        </p:txBody>
      </p:sp>
      <p:sp>
        <p:nvSpPr>
          <p:cNvPr id="802748014" name="Text 5"/>
          <p:cNvSpPr/>
          <p:nvPr/>
        </p:nvSpPr>
        <p:spPr bwMode="auto">
          <a:xfrm flipH="0" flipV="0">
            <a:off x="658440" y="2008616"/>
            <a:ext cx="4704482" cy="1399680"/>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ctr" anchorCtr="0" forceAA="0" upright="0" compatLnSpc="0">
            <a:normAutofit/>
          </a:bodyPr>
          <a:p>
            <a:pPr marL="294893" indent="-294893" defTabSz="914400">
              <a:lnSpc>
                <a:spcPct val="100000"/>
              </a:lnSpc>
              <a:buFont typeface="Arial"/>
              <a:buChar char="•"/>
              <a:tabLst>
                <a:tab pos="0" algn="l"/>
              </a:tabLst>
              <a:defRPr/>
            </a:pPr>
            <a:r>
              <a:rPr lang="en-US" sz="1800" b="0" u="none" strike="noStrike">
                <a:solidFill>
                  <a:srgbClr val="06111F"/>
                </a:solidFill>
                <a:latin typeface="Aptos Display"/>
                <a:ea typeface="Aptos Display"/>
              </a:rPr>
              <a:t>Package default Nextcloud</a:t>
            </a:r>
            <a:endParaRPr sz="1800" b="0" u="none" strike="noStrike">
              <a:solidFill>
                <a:srgbClr val="FFFFFF"/>
              </a:solidFill>
              <a:latin typeface="Calibri"/>
            </a:endParaRPr>
          </a:p>
          <a:p>
            <a:pPr marL="294893" indent="-294893" defTabSz="914400">
              <a:lnSpc>
                <a:spcPct val="100000"/>
              </a:lnSpc>
              <a:buFont typeface="Arial"/>
              <a:buChar char="•"/>
              <a:tabLst>
                <a:tab pos="0" algn="l"/>
              </a:tabLst>
              <a:defRPr/>
            </a:pPr>
            <a:r>
              <a:rPr lang="en-US" sz="1800" b="0" u="none" strike="noStrike">
                <a:solidFill>
                  <a:srgbClr val="06111F"/>
                </a:solidFill>
                <a:latin typeface="Aptos Display"/>
                <a:ea typeface="Aptos Display"/>
              </a:rPr>
              <a:t>Continuous integration</a:t>
            </a:r>
            <a:endParaRPr sz="1800" b="0" u="none" strike="noStrike">
              <a:solidFill>
                <a:srgbClr val="FFFFFF"/>
              </a:solidFill>
              <a:latin typeface="Calibri"/>
            </a:endParaRPr>
          </a:p>
          <a:p>
            <a:pPr marL="294893" indent="-294893" defTabSz="914400">
              <a:lnSpc>
                <a:spcPct val="100000"/>
              </a:lnSpc>
              <a:buFont typeface="Arial"/>
              <a:buChar char="•"/>
              <a:tabLst>
                <a:tab pos="0" algn="l"/>
              </a:tabLst>
              <a:defRPr/>
            </a:pPr>
            <a:r>
              <a:rPr lang="en-US" sz="1800" b="0" u="none" strike="noStrike">
                <a:solidFill>
                  <a:srgbClr val="06111F"/>
                </a:solidFill>
                <a:latin typeface="Aptos Display"/>
                <a:ea typeface="Aptos Display"/>
              </a:rPr>
              <a:t>Automate testing</a:t>
            </a:r>
            <a:endParaRPr sz="1800" b="0" u="none" strike="noStrike">
              <a:solidFill>
                <a:srgbClr val="06111F"/>
              </a:solidFill>
              <a:latin typeface="Aptos Display"/>
              <a:ea typeface="Aptos Display"/>
            </a:endParaRPr>
          </a:p>
          <a:p>
            <a:pPr marL="294893" indent="-294893" defTabSz="914400">
              <a:lnSpc>
                <a:spcPct val="100000"/>
              </a:lnSpc>
              <a:buFont typeface="Arial"/>
              <a:buChar char="•"/>
              <a:tabLst>
                <a:tab pos="0" algn="l"/>
              </a:tabLst>
              <a:defRPr/>
            </a:pPr>
            <a:r>
              <a:rPr lang="en-US" sz="1800" b="0" u="none" strike="noStrike">
                <a:solidFill>
                  <a:srgbClr val="06111F"/>
                </a:solidFill>
                <a:latin typeface="Aptos Display"/>
                <a:ea typeface="Aptos Display"/>
              </a:rPr>
              <a:t>Release testing</a:t>
            </a:r>
            <a:endParaRPr sz="1800" b="0" u="none" strike="noStrike">
              <a:solidFill>
                <a:srgbClr val="06111F"/>
              </a:solidFill>
              <a:latin typeface="Aptos Display"/>
              <a:ea typeface="Aptos Display"/>
            </a:endParaRPr>
          </a:p>
          <a:p>
            <a:pPr marL="294893" indent="-294893" defTabSz="914400">
              <a:lnSpc>
                <a:spcPct val="100000"/>
              </a:lnSpc>
              <a:buFont typeface="Arial"/>
              <a:buChar char="•"/>
              <a:tabLst>
                <a:tab pos="0" algn="l"/>
              </a:tabLst>
              <a:defRPr/>
            </a:pPr>
            <a:r>
              <a:rPr lang="en-US" sz="1800" b="0" u="none" strike="noStrike">
                <a:solidFill>
                  <a:srgbClr val="06111F"/>
                </a:solidFill>
                <a:latin typeface="Aptos Display"/>
                <a:ea typeface="Aptos Display"/>
              </a:rPr>
              <a:t>Predictable releases</a:t>
            </a:r>
            <a:endParaRPr lang="sk" sz="3500" b="0" u="none" strike="noStrike">
              <a:solidFill>
                <a:srgbClr val="FFFFFF"/>
              </a:solidFill>
              <a:latin typeface="Calibri"/>
            </a:endParaRPr>
          </a:p>
        </p:txBody>
      </p:sp>
      <p:sp>
        <p:nvSpPr>
          <p:cNvPr id="854175805" name="Shape 7"/>
          <p:cNvSpPr/>
          <p:nvPr/>
        </p:nvSpPr>
        <p:spPr bwMode="auto">
          <a:xfrm flipH="0" flipV="0">
            <a:off x="699122" y="4801795"/>
            <a:ext cx="2053076" cy="1201840"/>
          </a:xfrm>
          <a:prstGeom prst="roundRect">
            <a:avLst>
              <a:gd name="adj" fmla="val 13415"/>
            </a:avLst>
          </a:prstGeom>
          <a:solidFill>
            <a:srgbClr val="0082C9">
              <a:alpha val="98000"/>
            </a:srgbClr>
          </a:solidFill>
          <a:ln w="12700">
            <a:solidFill>
              <a:srgbClr val="0082C9">
                <a:alpha val="0"/>
              </a:srgbClr>
            </a:solidFill>
            <a:round/>
          </a:ln>
        </p:spPr>
        <p:style>
          <a:lnRef idx="0"/>
          <a:fillRef idx="0"/>
          <a:effectRef idx="0"/>
          <a:fontRef idx="minor"/>
        </p:style>
        <p:txBody>
          <a:bodyPr lIns="90000" tIns="45000" rIns="90000" bIns="45000" anchor="t">
            <a:noAutofit/>
          </a:bodyPr>
          <a:p>
            <a:pPr>
              <a:defRPr/>
            </a:pPr>
            <a:r>
              <a:rPr lang="en-US" sz="1800" b="0" i="0" u="none" strike="noStrike" cap="none" spc="0">
                <a:solidFill>
                  <a:srgbClr val="173A4F"/>
                </a:solidFill>
                <a:latin typeface="Aptos"/>
                <a:ea typeface="Aptos"/>
                <a:cs typeface="Aptos"/>
              </a:rPr>
              <a:t> </a:t>
            </a:r>
            <a:endParaRPr lang="sk" sz="1800" b="0" u="none" strike="noStrike">
              <a:solidFill>
                <a:schemeClr val="dk1"/>
              </a:solidFill>
              <a:latin typeface="Aptos"/>
            </a:endParaRPr>
          </a:p>
        </p:txBody>
      </p:sp>
      <p:sp>
        <p:nvSpPr>
          <p:cNvPr id="2139584778" name="Text 8"/>
          <p:cNvSpPr/>
          <p:nvPr/>
        </p:nvSpPr>
        <p:spPr bwMode="auto">
          <a:xfrm>
            <a:off x="1003501" y="5238554"/>
            <a:ext cx="14443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1600" b="1" u="none" strike="noStrike">
                <a:solidFill>
                  <a:srgbClr val="FFFFFF"/>
                </a:solidFill>
                <a:latin typeface="Aptos"/>
              </a:rPr>
              <a:t>Upstream</a:t>
            </a:r>
            <a:endParaRPr lang="sk" sz="950" b="0" u="none" strike="noStrike">
              <a:solidFill>
                <a:srgbClr val="FFFFFF"/>
              </a:solidFill>
              <a:latin typeface="Calibri"/>
            </a:endParaRPr>
          </a:p>
        </p:txBody>
      </p:sp>
      <p:sp>
        <p:nvSpPr>
          <p:cNvPr id="773463978" name="Text 9"/>
          <p:cNvSpPr/>
          <p:nvPr/>
        </p:nvSpPr>
        <p:spPr bwMode="auto">
          <a:xfrm>
            <a:off x="1003501" y="5467155"/>
            <a:ext cx="14443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1600" b="1" u="none" strike="noStrike">
                <a:solidFill>
                  <a:srgbClr val="FFFFFF"/>
                </a:solidFill>
                <a:latin typeface="Aptos"/>
              </a:rPr>
              <a:t>Nextcloud</a:t>
            </a:r>
            <a:endParaRPr lang="sk" sz="950" b="0" u="none" strike="noStrike">
              <a:solidFill>
                <a:srgbClr val="FFFFFF"/>
              </a:solidFill>
              <a:latin typeface="Calibri"/>
            </a:endParaRPr>
          </a:p>
        </p:txBody>
      </p:sp>
      <p:sp>
        <p:nvSpPr>
          <p:cNvPr id="1448761762" name="Shape 11"/>
          <p:cNvSpPr/>
          <p:nvPr/>
        </p:nvSpPr>
        <p:spPr bwMode="auto">
          <a:xfrm flipH="0" flipV="0">
            <a:off x="3010680" y="4801795"/>
            <a:ext cx="2053076" cy="1201840"/>
          </a:xfrm>
          <a:prstGeom prst="roundRect">
            <a:avLst>
              <a:gd name="adj" fmla="val 13415"/>
            </a:avLst>
          </a:prstGeom>
          <a:solidFill>
            <a:srgbClr val="FF8A2A">
              <a:alpha val="98000"/>
            </a:srgbClr>
          </a:solidFill>
          <a:ln w="12700">
            <a:solidFill>
              <a:srgbClr val="FF8A2A">
                <a:alpha val="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239005533" name="Text 12"/>
          <p:cNvSpPr/>
          <p:nvPr/>
        </p:nvSpPr>
        <p:spPr bwMode="auto">
          <a:xfrm>
            <a:off x="3315059" y="5238554"/>
            <a:ext cx="14443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1600" b="1" u="none" strike="noStrike">
                <a:solidFill>
                  <a:srgbClr val="FFFFFF"/>
                </a:solidFill>
                <a:latin typeface="Aptos"/>
              </a:rPr>
              <a:t>Snap</a:t>
            </a:r>
            <a:endParaRPr lang="sk" sz="950" b="0" u="none" strike="noStrike">
              <a:solidFill>
                <a:srgbClr val="FFFFFF"/>
              </a:solidFill>
              <a:latin typeface="Calibri"/>
            </a:endParaRPr>
          </a:p>
        </p:txBody>
      </p:sp>
      <p:sp>
        <p:nvSpPr>
          <p:cNvPr id="1870377450" name="Text 13"/>
          <p:cNvSpPr/>
          <p:nvPr/>
        </p:nvSpPr>
        <p:spPr bwMode="auto">
          <a:xfrm>
            <a:off x="3315059" y="5467155"/>
            <a:ext cx="14443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1600" b="1" u="none" strike="noStrike">
                <a:solidFill>
                  <a:srgbClr val="FFFFFF"/>
                </a:solidFill>
                <a:latin typeface="Aptos"/>
              </a:rPr>
              <a:t>packaging</a:t>
            </a:r>
            <a:endParaRPr lang="sk" sz="950" b="0" u="none" strike="noStrike">
              <a:solidFill>
                <a:srgbClr val="FFFFFF"/>
              </a:solidFill>
              <a:latin typeface="Calibri"/>
            </a:endParaRPr>
          </a:p>
        </p:txBody>
      </p:sp>
      <p:sp>
        <p:nvSpPr>
          <p:cNvPr id="1003454485" name="Rounded Rectangle 21"/>
          <p:cNvSpPr/>
          <p:nvPr/>
        </p:nvSpPr>
        <p:spPr bwMode="auto">
          <a:xfrm>
            <a:off x="393120" y="155520"/>
            <a:ext cx="2605680" cy="383760"/>
          </a:xfrm>
          <a:prstGeom prst="roundRect">
            <a:avLst>
              <a:gd name="adj" fmla="val 16667"/>
            </a:avLst>
          </a:prstGeom>
          <a:solidFill>
            <a:srgbClr val="FFFFFF"/>
          </a:solidFill>
          <a:ln>
            <a:solidFill>
              <a:srgbClr val="0082C9"/>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defRPr/>
            </a:pPr>
            <a:endParaRPr lang="sk" sz="1800" b="0" u="none" strike="noStrike">
              <a:solidFill>
                <a:schemeClr val="lt1"/>
              </a:solidFill>
              <a:latin typeface="Aptos"/>
            </a:endParaRPr>
          </a:p>
        </p:txBody>
      </p:sp>
      <p:pic>
        <p:nvPicPr>
          <p:cNvPr id="494341542" name="Picture 22" descr="nextcloud_icon_blue.png"/>
          <p:cNvPicPr/>
          <p:nvPr/>
        </p:nvPicPr>
        <p:blipFill rotWithShape="1">
          <a:blip r:embed="rId4"/>
          <a:stretch/>
        </p:blipFill>
        <p:spPr bwMode="auto">
          <a:xfrm>
            <a:off x="502920" y="219600"/>
            <a:ext cx="519120" cy="255600"/>
          </a:xfrm>
          <a:prstGeom prst="rect">
            <a:avLst/>
          </a:prstGeom>
          <a:noFill/>
          <a:ln w="0">
            <a:noFill/>
          </a:ln>
        </p:spPr>
      </p:pic>
      <p:sp>
        <p:nvSpPr>
          <p:cNvPr id="1906768293" name="TextBox 23"/>
          <p:cNvSpPr/>
          <p:nvPr/>
        </p:nvSpPr>
        <p:spPr bwMode="auto">
          <a:xfrm>
            <a:off x="1005840" y="214920"/>
            <a:ext cx="1572480" cy="22824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defRPr/>
            </a:pPr>
            <a:r>
              <a:rPr lang="sk" sz="1300" b="1" u="none" strike="noStrike">
                <a:solidFill>
                  <a:srgbClr val="0082C9"/>
                </a:solidFill>
                <a:latin typeface="Aptos"/>
              </a:rPr>
              <a:t>Nextcloud</a:t>
            </a:r>
            <a:endParaRPr lang="sk" sz="1300" b="0" u="none" strike="noStrike">
              <a:solidFill>
                <a:srgbClr val="FFFFFF"/>
              </a:solidFill>
              <a:latin typeface="Calibri"/>
            </a:endParaRPr>
          </a:p>
        </p:txBody>
      </p:sp>
      <p:sp>
        <p:nvSpPr>
          <p:cNvPr id="1788991996" name="Rounded Rectangle 24"/>
          <p:cNvSpPr/>
          <p:nvPr/>
        </p:nvSpPr>
        <p:spPr bwMode="auto">
          <a:xfrm>
            <a:off x="2468880" y="233280"/>
            <a:ext cx="438480" cy="200880"/>
          </a:xfrm>
          <a:prstGeom prst="roundRect">
            <a:avLst>
              <a:gd name="adj" fmla="val 16667"/>
            </a:avLst>
          </a:prstGeom>
          <a:solidFill>
            <a:srgbClr val="0082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914400">
              <a:lnSpc>
                <a:spcPct val="100000"/>
              </a:lnSpc>
              <a:defRPr/>
            </a:pPr>
            <a:r>
              <a:rPr lang="sk" sz="650" b="1" u="none" strike="noStrike">
                <a:solidFill>
                  <a:srgbClr val="FFFFFF"/>
                </a:solidFill>
                <a:latin typeface="Aptos"/>
              </a:rPr>
              <a:t>SNAP</a:t>
            </a:r>
            <a:endParaRPr lang="sk" sz="650" b="0" u="none" strike="noStrike">
              <a:solidFill>
                <a:srgbClr val="FFFFFF"/>
              </a:solidFill>
              <a:latin typeface="Calibri"/>
            </a:endParaRPr>
          </a:p>
        </p:txBody>
      </p:sp>
      <p:pic>
        <p:nvPicPr>
          <p:cNvPr id="207198911" name=""/>
          <p:cNvPicPr>
            <a:picLocks noChangeAspect="1"/>
          </p:cNvPicPr>
          <p:nvPr/>
        </p:nvPicPr>
        <p:blipFill rotWithShape="1">
          <a:blip r:embed="rId5"/>
          <a:stretch/>
        </p:blipFill>
        <p:spPr bwMode="auto">
          <a:xfrm>
            <a:off x="5362921" y="4867438"/>
            <a:ext cx="2057400" cy="1200150"/>
          </a:xfrm>
          <a:prstGeom prst="rect">
            <a:avLst/>
          </a:prstGeom>
        </p:spPr>
      </p:pic>
      <p:sp>
        <p:nvSpPr>
          <p:cNvPr id="399697128" name="Rectangle 25"/>
          <p:cNvSpPr/>
          <p:nvPr/>
        </p:nvSpPr>
        <p:spPr bwMode="auto">
          <a:xfrm>
            <a:off x="502920" y="6336720"/>
            <a:ext cx="1234080" cy="31680"/>
          </a:xfrm>
          <a:prstGeom prst="rect">
            <a:avLst/>
          </a:prstGeom>
          <a:solidFill>
            <a:srgbClr val="0082C9"/>
          </a:solidFill>
          <a:ln>
            <a:noFill/>
          </a:ln>
        </p:spPr>
        <p:style>
          <a:lnRef idx="1">
            <a:schemeClr val="accent1"/>
          </a:lnRef>
          <a:fillRef idx="3">
            <a:schemeClr val="accent1"/>
          </a:fillRef>
          <a:effectRef idx="2">
            <a:schemeClr val="accent1"/>
          </a:effectRef>
          <a:fontRef idx="minor"/>
        </p:style>
        <p:txBody>
          <a:bodyPr lIns="90000" tIns="-12960" rIns="90000" bIns="-12960" anchor="ctr">
            <a:noAutofit/>
          </a:bodyPr>
          <a:p>
            <a:pPr>
              <a:defRPr/>
            </a:pPr>
            <a:endParaRPr lang="sk" sz="1800" b="0" u="none" strike="noStrike">
              <a:solidFill>
                <a:schemeClr val="lt1"/>
              </a:solidFill>
              <a:latin typeface="Aptos"/>
            </a:endParaRPr>
          </a:p>
        </p:txBody>
      </p:sp>
      <p:sp>
        <p:nvSpPr>
          <p:cNvPr id="865704866" name="Text 5"/>
          <p:cNvSpPr/>
          <p:nvPr/>
        </p:nvSpPr>
        <p:spPr bwMode="auto">
          <a:xfrm flipH="0" flipV="0">
            <a:off x="5362921" y="2880077"/>
            <a:ext cx="4887181" cy="1328753"/>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t" anchorCtr="0" forceAA="0" upright="0" compatLnSpc="0">
            <a:normAutofit fontScale="90000" lnSpcReduction="2000"/>
          </a:bodyPr>
          <a:p>
            <a:pPr marL="294892" marR="0" indent="-294892" algn="l" defTabSz="914400">
              <a:lnSpc>
                <a:spcPct val="100000"/>
              </a:lnSpc>
              <a:spcBef>
                <a:spcPts val="0"/>
              </a:spcBef>
              <a:spcAft>
                <a:spcPts val="0"/>
              </a:spcAft>
              <a:buFont typeface="Arial"/>
              <a:buChar char="•"/>
              <a:tabLst>
                <a:tab pos="0" algn="l"/>
              </a:tabLst>
              <a:defRPr/>
            </a:pPr>
            <a:r>
              <a:rPr lang="en-US" sz="2000" b="0" i="0" u="none" strike="noStrike" cap="none" spc="0">
                <a:solidFill>
                  <a:srgbClr val="06111F"/>
                </a:solidFill>
                <a:latin typeface="Aptos Display"/>
                <a:ea typeface="Aptos Display"/>
                <a:cs typeface="Aptos Display"/>
              </a:rPr>
              <a:t>100% FOSS commitment</a:t>
            </a:r>
            <a:endParaRPr sz="2000" b="0" i="0" u="none" strike="noStrike" cap="none" spc="0">
              <a:solidFill>
                <a:srgbClr val="06111F"/>
              </a:solidFill>
              <a:latin typeface="Aptos Display"/>
              <a:cs typeface="Aptos Display"/>
            </a:endParaRPr>
          </a:p>
          <a:p>
            <a:pPr marL="294892" marR="0" indent="-294892" algn="l" defTabSz="914400">
              <a:lnSpc>
                <a:spcPct val="100000"/>
              </a:lnSpc>
              <a:spcBef>
                <a:spcPts val="0"/>
              </a:spcBef>
              <a:spcAft>
                <a:spcPts val="0"/>
              </a:spcAft>
              <a:buFont typeface="Arial"/>
              <a:buChar char="•"/>
              <a:tabLst>
                <a:tab pos="0" algn="l"/>
              </a:tabLst>
              <a:defRPr/>
            </a:pPr>
            <a:r>
              <a:rPr lang="en-US" sz="2000" b="0" i="0" u="none" strike="noStrike" cap="none" spc="0">
                <a:solidFill>
                  <a:srgbClr val="06111F"/>
                </a:solidFill>
                <a:latin typeface="Aptos Display"/>
                <a:ea typeface="Aptos Display"/>
                <a:cs typeface="Aptos Display"/>
              </a:rPr>
              <a:t>Secure confinement </a:t>
            </a:r>
            <a:endParaRPr sz="2000" b="0" i="0" u="none" strike="noStrike" cap="none" spc="0">
              <a:solidFill>
                <a:srgbClr val="06111F"/>
              </a:solidFill>
              <a:latin typeface="Aptos Display"/>
              <a:cs typeface="Aptos Display"/>
            </a:endParaRPr>
          </a:p>
          <a:p>
            <a:pPr marL="294892" marR="0" indent="-294892" algn="l" defTabSz="914400">
              <a:lnSpc>
                <a:spcPct val="100000"/>
              </a:lnSpc>
              <a:spcBef>
                <a:spcPts val="0"/>
              </a:spcBef>
              <a:spcAft>
                <a:spcPts val="0"/>
              </a:spcAft>
              <a:buFont typeface="Arial"/>
              <a:buChar char="•"/>
              <a:tabLst>
                <a:tab pos="0" algn="l"/>
              </a:tabLst>
              <a:defRPr/>
            </a:pPr>
            <a:r>
              <a:rPr lang="en-US" sz="2000" b="0" i="0" u="none" strike="noStrike" cap="none" spc="0">
                <a:solidFill>
                  <a:srgbClr val="06111F"/>
                </a:solidFill>
                <a:latin typeface="Aptos Display"/>
                <a:ea typeface="Aptos Display"/>
                <a:cs typeface="Aptos Display"/>
              </a:rPr>
              <a:t>Reproducible </a:t>
            </a:r>
            <a:r>
              <a:rPr lang="en-US" sz="2000" b="0" i="0" u="none" strike="noStrike" cap="none" spc="0">
                <a:solidFill>
                  <a:srgbClr val="06111F"/>
                </a:solidFill>
                <a:latin typeface="Aptos Display"/>
                <a:ea typeface="Aptos Display"/>
                <a:cs typeface="Aptos Display"/>
              </a:rPr>
              <a:t>environment</a:t>
            </a:r>
            <a:endParaRPr sz="2000" b="0" i="0" u="none" strike="noStrike" cap="none" spc="0">
              <a:solidFill>
                <a:srgbClr val="06111F"/>
              </a:solidFill>
              <a:latin typeface="Aptos Display"/>
              <a:cs typeface="Aptos Display"/>
            </a:endParaRPr>
          </a:p>
          <a:p>
            <a:pPr marL="294892" marR="0" indent="-294892" algn="l" defTabSz="914400">
              <a:lnSpc>
                <a:spcPct val="100000"/>
              </a:lnSpc>
              <a:spcBef>
                <a:spcPts val="0"/>
              </a:spcBef>
              <a:spcAft>
                <a:spcPts val="0"/>
              </a:spcAft>
              <a:buFont typeface="Arial"/>
              <a:buChar char="•"/>
              <a:tabLst>
                <a:tab pos="0" algn="l"/>
              </a:tabLst>
              <a:defRPr/>
            </a:pPr>
            <a:r>
              <a:rPr lang="en-US" sz="2000" b="0" i="0" u="none" strike="noStrike" cap="none" spc="0">
                <a:solidFill>
                  <a:srgbClr val="06111F"/>
                </a:solidFill>
                <a:latin typeface="Aptos Display"/>
                <a:ea typeface="Aptos Display"/>
                <a:cs typeface="Aptos Display"/>
              </a:rPr>
              <a:t>Bare-metal, VPS, VM, LXC, SBC</a:t>
            </a:r>
            <a:r>
              <a:rPr lang="en-US" sz="2000" b="0" i="0" u="none" strike="noStrike" cap="none" spc="0">
                <a:solidFill>
                  <a:srgbClr val="06111F"/>
                </a:solidFill>
                <a:latin typeface="Aptos Display"/>
                <a:ea typeface="Aptos Display"/>
                <a:cs typeface="Aptos Display"/>
              </a:rPr>
              <a:t>, IoT</a:t>
            </a:r>
            <a:endParaRPr sz="2000" b="0" i="0" u="none" strike="noStrike" cap="none" spc="0">
              <a:solidFill>
                <a:srgbClr val="06111F"/>
              </a:solidFill>
              <a:latin typeface="Aptos Display"/>
              <a:cs typeface="Aptos Display"/>
            </a:endParaRPr>
          </a:p>
          <a:p>
            <a:pPr marL="294892" marR="0" indent="-294892" algn="l" defTabSz="914400">
              <a:lnSpc>
                <a:spcPct val="100000"/>
              </a:lnSpc>
              <a:spcBef>
                <a:spcPts val="0"/>
              </a:spcBef>
              <a:spcAft>
                <a:spcPts val="0"/>
              </a:spcAft>
              <a:buFont typeface="Arial"/>
              <a:buChar char="•"/>
              <a:tabLst>
                <a:tab pos="0" algn="l"/>
              </a:tabLst>
              <a:defRPr/>
            </a:pPr>
            <a:r>
              <a:rPr lang="en-GB" sz="2000" b="0" i="0" u="none" strike="noStrike" cap="none" spc="0">
                <a:solidFill>
                  <a:srgbClr val="06111F"/>
                </a:solidFill>
                <a:latin typeface="Aptos Display"/>
                <a:ea typeface="Aptos Display"/>
                <a:cs typeface="Aptos Display"/>
              </a:rPr>
              <a:t>Scalable </a:t>
            </a:r>
            <a:r>
              <a:rPr lang="en-US" sz="2000" b="0" i="0" u="none" strike="noStrike" cap="none" spc="0">
                <a:solidFill>
                  <a:srgbClr val="06111F"/>
                </a:solidFill>
                <a:latin typeface="Aptos Display"/>
                <a:ea typeface="Aptos Display"/>
                <a:cs typeface="Aptos Display"/>
              </a:rPr>
              <a:t>environments</a:t>
            </a:r>
            <a:endParaRPr sz="2000" b="1" u="none" strike="noStrike">
              <a:solidFill>
                <a:srgbClr val="06111F"/>
              </a:solidFill>
              <a:latin typeface="Aptos Display"/>
              <a:ea typeface="Aptos Display"/>
            </a:endParaRPr>
          </a:p>
        </p:txBody>
      </p:sp>
      <p:sp>
        <p:nvSpPr>
          <p:cNvPr id="875481812" name="Text 5"/>
          <p:cNvSpPr/>
          <p:nvPr/>
        </p:nvSpPr>
        <p:spPr bwMode="auto">
          <a:xfrm flipH="0" flipV="0">
            <a:off x="658438" y="1261798"/>
            <a:ext cx="8535884" cy="635263"/>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t" anchorCtr="0" forceAA="0" upright="0" compatLnSpc="0">
            <a:normAutofit/>
          </a:bodyPr>
          <a:p>
            <a:pPr marL="0" marR="0" indent="0" algn="l" defTabSz="914400">
              <a:lnSpc>
                <a:spcPct val="100000"/>
              </a:lnSpc>
              <a:spcBef>
                <a:spcPts val="0"/>
              </a:spcBef>
              <a:spcAft>
                <a:spcPts val="0"/>
              </a:spcAft>
              <a:tabLst>
                <a:tab pos="0" algn="l"/>
              </a:tabLst>
              <a:defRPr/>
            </a:pPr>
            <a:r>
              <a:rPr lang="en-US" sz="3400" b="1" u="none" strike="noStrike">
                <a:solidFill>
                  <a:srgbClr val="06111F"/>
                </a:solidFill>
                <a:latin typeface="Aptos Display"/>
                <a:ea typeface="Aptos Display"/>
              </a:rPr>
              <a:t>Peace of mind</a:t>
            </a:r>
            <a:r>
              <a:rPr lang="sk" sz="3400" b="0" u="none" strike="noStrike">
                <a:solidFill>
                  <a:srgbClr val="000000"/>
                </a:solidFill>
                <a:latin typeface="Calibri"/>
              </a:rPr>
              <a:t> — </a:t>
            </a:r>
            <a:r>
              <a:rPr lang="en-US" sz="3400" b="1" i="0" u="none" strike="noStrike" cap="none" spc="0">
                <a:solidFill>
                  <a:srgbClr val="06111F"/>
                </a:solidFill>
                <a:latin typeface="Aptos Display"/>
                <a:ea typeface="Aptos Display"/>
                <a:cs typeface="Aptos Display"/>
              </a:rPr>
              <a:t>KISS</a:t>
            </a:r>
            <a:endParaRPr lang="en-US" sz="3400" b="1" i="0" u="none" strike="noStrike" cap="none" spc="0">
              <a:solidFill>
                <a:srgbClr val="06111F"/>
              </a:solidFill>
              <a:latin typeface="Aptos Display"/>
              <a:cs typeface="Aptos Display"/>
            </a:endParaRPr>
          </a:p>
        </p:txBody>
      </p:sp>
      <p:sp>
        <p:nvSpPr>
          <p:cNvPr id="388545240" name="Shape 10"/>
          <p:cNvSpPr/>
          <p:nvPr/>
        </p:nvSpPr>
        <p:spPr bwMode="auto">
          <a:xfrm>
            <a:off x="2752197" y="5467514"/>
            <a:ext cx="457200" cy="360"/>
          </a:xfrm>
          <a:prstGeom prst="line">
            <a:avLst/>
          </a:prstGeom>
          <a:ln w="25400">
            <a:solidFill>
              <a:srgbClr val="18354B">
                <a:alpha val="95000"/>
              </a:srgbClr>
            </a:solidFill>
            <a:round/>
            <a:tailEnd type="triangle" w="med" len="me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1073804483" name="Shape 14"/>
          <p:cNvSpPr/>
          <p:nvPr/>
        </p:nvSpPr>
        <p:spPr bwMode="auto">
          <a:xfrm>
            <a:off x="5063757" y="5467155"/>
            <a:ext cx="457200" cy="360"/>
          </a:xfrm>
          <a:prstGeom prst="line">
            <a:avLst/>
          </a:prstGeom>
          <a:ln w="25400">
            <a:solidFill>
              <a:srgbClr val="18354B">
                <a:alpha val="95000"/>
              </a:srgbClr>
            </a:solidFill>
            <a:round/>
            <a:tailEnd type="triangle" w="med" len="me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1238252069" name="Text 16"/>
          <p:cNvSpPr/>
          <p:nvPr/>
        </p:nvSpPr>
        <p:spPr bwMode="auto">
          <a:xfrm>
            <a:off x="5669461" y="5302994"/>
            <a:ext cx="14443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1600" b="1" u="none" strike="noStrike">
                <a:solidFill>
                  <a:srgbClr val="FFFFFF"/>
                </a:solidFill>
                <a:latin typeface="Aptos"/>
              </a:rPr>
              <a:t>Tested</a:t>
            </a:r>
            <a:endParaRPr lang="sk" sz="950" b="0" u="none" strike="noStrike">
              <a:solidFill>
                <a:srgbClr val="FFFFFF"/>
              </a:solidFill>
              <a:latin typeface="Calibri"/>
            </a:endParaRPr>
          </a:p>
        </p:txBody>
      </p:sp>
      <p:sp>
        <p:nvSpPr>
          <p:cNvPr id="1606262604" name="Text 17"/>
          <p:cNvSpPr/>
          <p:nvPr/>
        </p:nvSpPr>
        <p:spPr bwMode="auto">
          <a:xfrm>
            <a:off x="5669461" y="5531954"/>
            <a:ext cx="14443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1600" b="1" u="none" strike="noStrike">
                <a:solidFill>
                  <a:srgbClr val="FFFFFF"/>
                </a:solidFill>
                <a:latin typeface="Aptos"/>
              </a:rPr>
              <a:t>release</a:t>
            </a:r>
            <a:endParaRPr lang="sk" sz="950" b="0" u="none" strike="noStrike">
              <a:solidFill>
                <a:srgbClr val="FFFFFF"/>
              </a:solidFill>
              <a:latin typeface="Calibri"/>
            </a:endParaRPr>
          </a:p>
        </p:txBody>
      </p:sp>
      <p:sp>
        <p:nvSpPr>
          <p:cNvPr id="1303393030" name="Shape 7"/>
          <p:cNvSpPr/>
          <p:nvPr/>
        </p:nvSpPr>
        <p:spPr bwMode="auto">
          <a:xfrm flipH="0" flipV="0">
            <a:off x="7719046" y="4867438"/>
            <a:ext cx="2053075" cy="1201839"/>
          </a:xfrm>
          <a:prstGeom prst="roundRect">
            <a:avLst>
              <a:gd name="adj" fmla="val 13415"/>
            </a:avLst>
          </a:prstGeom>
          <a:solidFill>
            <a:srgbClr val="0082C9">
              <a:alpha val="98000"/>
            </a:srgbClr>
          </a:solidFill>
          <a:ln w="12700">
            <a:solidFill>
              <a:srgbClr val="0082C9">
                <a:alpha val="0"/>
              </a:srgbClr>
            </a:solidFill>
            <a:round/>
          </a:ln>
        </p:spPr>
        <p:style>
          <a:lnRef idx="0"/>
          <a:fillRef idx="0"/>
          <a:effectRef idx="0"/>
          <a:fontRef idx="minor"/>
        </p:style>
        <p:txBody>
          <a:bodyPr lIns="90000" tIns="45000" rIns="90000" bIns="45000" anchor="t">
            <a:noAutofit/>
          </a:bodyPr>
          <a:p>
            <a:pPr>
              <a:defRPr/>
            </a:pPr>
            <a:r>
              <a:rPr lang="en-US" sz="1800" b="0" i="0" u="none" strike="noStrike" cap="none" spc="0">
                <a:solidFill>
                  <a:srgbClr val="173A4F"/>
                </a:solidFill>
                <a:latin typeface="Aptos"/>
                <a:ea typeface="Aptos"/>
                <a:cs typeface="Aptos"/>
              </a:rPr>
              <a:t> </a:t>
            </a:r>
            <a:endParaRPr lang="sk" sz="1800" b="0" u="none" strike="noStrike">
              <a:solidFill>
                <a:schemeClr val="dk1"/>
              </a:solidFill>
              <a:latin typeface="Aptos"/>
            </a:endParaRPr>
          </a:p>
        </p:txBody>
      </p:sp>
      <p:sp>
        <p:nvSpPr>
          <p:cNvPr id="1698942464" name="Text 9"/>
          <p:cNvSpPr/>
          <p:nvPr/>
        </p:nvSpPr>
        <p:spPr bwMode="auto">
          <a:xfrm>
            <a:off x="8023424" y="5320633"/>
            <a:ext cx="1444319" cy="164159"/>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1600" b="1" u="none" strike="noStrike">
                <a:solidFill>
                  <a:srgbClr val="FFFFFF"/>
                </a:solidFill>
                <a:latin typeface="Aptos"/>
              </a:rPr>
              <a:t>Community</a:t>
            </a:r>
            <a:endParaRPr lang="sk" sz="950" b="0" u="none" strike="noStrike">
              <a:solidFill>
                <a:srgbClr val="FFFFFF"/>
              </a:solidFill>
              <a:latin typeface="Calibri"/>
            </a:endParaRPr>
          </a:p>
        </p:txBody>
      </p:sp>
      <p:sp>
        <p:nvSpPr>
          <p:cNvPr id="360085825" name="Text 9"/>
          <p:cNvSpPr/>
          <p:nvPr/>
        </p:nvSpPr>
        <p:spPr bwMode="auto">
          <a:xfrm>
            <a:off x="8023424" y="5549234"/>
            <a:ext cx="1444319" cy="164159"/>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defRPr/>
            </a:pPr>
            <a:r>
              <a:rPr lang="en-US" sz="1600" b="1" u="none" strike="noStrike">
                <a:solidFill>
                  <a:srgbClr val="FFFFFF"/>
                </a:solidFill>
                <a:latin typeface="Aptos"/>
              </a:rPr>
              <a:t>support</a:t>
            </a:r>
            <a:endParaRPr lang="sk" sz="950" b="0" u="none" strike="noStrike">
              <a:solidFill>
                <a:srgbClr val="FFFFFF"/>
              </a:solidFill>
              <a:latin typeface="Calibri"/>
            </a:endParaRPr>
          </a:p>
        </p:txBody>
      </p:sp>
      <p:sp>
        <p:nvSpPr>
          <p:cNvPr id="1937428351" name="Shape 14"/>
          <p:cNvSpPr/>
          <p:nvPr/>
        </p:nvSpPr>
        <p:spPr bwMode="auto">
          <a:xfrm>
            <a:off x="7420320" y="5484793"/>
            <a:ext cx="457200" cy="360"/>
          </a:xfrm>
          <a:prstGeom prst="line">
            <a:avLst/>
          </a:prstGeom>
          <a:ln w="25400">
            <a:solidFill>
              <a:srgbClr val="18354B">
                <a:alpha val="95000"/>
              </a:srgbClr>
            </a:solidFill>
            <a:round/>
            <a:tailEnd type="triangle" w="med" len="me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AFF"/>
        </a:solidFill>
      </p:bgPr>
    </p:bg>
    <p:spTree>
      <p:nvGrpSpPr>
        <p:cNvPr id="1" name=""/>
        <p:cNvGrpSpPr/>
        <p:nvPr/>
      </p:nvGrpSpPr>
      <p:grpSpPr bwMode="auto">
        <a:xfrm>
          <a:off x="0" y="0"/>
          <a:ext cx="0" cy="0"/>
          <a:chOff x="0" y="0"/>
          <a:chExt cx="0" cy="0"/>
        </a:xfrm>
      </p:grpSpPr>
      <p:pic>
        <p:nvPicPr>
          <p:cNvPr id="204094698" name="Image 0" descr="/mnt/data/bg_stack_light.png"/>
          <p:cNvPicPr/>
          <p:nvPr/>
        </p:nvPicPr>
        <p:blipFill rotWithShape="1">
          <a:blip r:embed="rId3"/>
          <a:stretch/>
        </p:blipFill>
        <p:spPr bwMode="auto">
          <a:xfrm>
            <a:off x="7919" y="0"/>
            <a:ext cx="12191400" cy="6857640"/>
          </a:xfrm>
          <a:prstGeom prst="rect">
            <a:avLst/>
          </a:prstGeom>
          <a:noFill/>
          <a:ln w="0">
            <a:noFill/>
          </a:ln>
        </p:spPr>
      </p:pic>
      <p:sp>
        <p:nvSpPr>
          <p:cNvPr id="1175822476" name="Text 1"/>
          <p:cNvSpPr/>
          <p:nvPr/>
        </p:nvSpPr>
        <p:spPr bwMode="auto">
          <a:xfrm>
            <a:off x="11292840" y="255960"/>
            <a:ext cx="36540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defRPr/>
            </a:pPr>
            <a:r>
              <a:rPr lang="en-US" sz="800" b="1" u="none" strike="noStrike">
                <a:solidFill>
                  <a:srgbClr val="B9CBDA"/>
                </a:solidFill>
                <a:latin typeface="Aptos"/>
                <a:ea typeface="Aptos"/>
              </a:rPr>
              <a:t>04</a:t>
            </a:r>
            <a:endParaRPr lang="sk" sz="800" b="0" u="none" strike="noStrike">
              <a:solidFill>
                <a:srgbClr val="000000"/>
              </a:solidFill>
              <a:latin typeface="Calibri"/>
            </a:endParaRPr>
          </a:p>
        </p:txBody>
      </p:sp>
      <p:sp>
        <p:nvSpPr>
          <p:cNvPr id="337378082" name="Shape 2"/>
          <p:cNvSpPr/>
          <p:nvPr/>
        </p:nvSpPr>
        <p:spPr bwMode="auto">
          <a:xfrm>
            <a:off x="502920" y="566640"/>
            <a:ext cx="11201400" cy="360"/>
          </a:xfrm>
          <a:prstGeom prst="line">
            <a:avLst/>
          </a:prstGeom>
          <a:ln w="8890">
            <a:solidFill>
              <a:srgbClr val="31536B">
                <a:alpha val="65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1634244089" name="Shape 3"/>
          <p:cNvSpPr/>
          <p:nvPr/>
        </p:nvSpPr>
        <p:spPr bwMode="auto">
          <a:xfrm>
            <a:off x="658440" y="804600"/>
            <a:ext cx="1810080" cy="383760"/>
          </a:xfrm>
          <a:prstGeom prst="roundRect">
            <a:avLst>
              <a:gd name="adj" fmla="val 21429"/>
            </a:avLst>
          </a:prstGeom>
          <a:solidFill>
            <a:srgbClr val="FF8A2A"/>
          </a:solidFill>
          <a:ln w="12700">
            <a:solidFill>
              <a:srgbClr val="FF8A2A">
                <a:alpha val="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818492778" name="Text 4"/>
          <p:cNvSpPr/>
          <p:nvPr/>
        </p:nvSpPr>
        <p:spPr bwMode="auto">
          <a:xfrm>
            <a:off x="795600" y="912600"/>
            <a:ext cx="1535759" cy="145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50" b="1" u="none" strike="noStrike">
                <a:solidFill>
                  <a:srgbClr val="FFFFFF"/>
                </a:solidFill>
                <a:latin typeface="Aptos"/>
              </a:rPr>
              <a:t>INSIDE THE SNAP</a:t>
            </a:r>
            <a:endParaRPr lang="sk" sz="850" b="0" u="none" strike="noStrike">
              <a:solidFill>
                <a:srgbClr val="000000"/>
              </a:solidFill>
              <a:latin typeface="Calibri"/>
            </a:endParaRPr>
          </a:p>
        </p:txBody>
      </p:sp>
      <p:sp>
        <p:nvSpPr>
          <p:cNvPr id="799947513" name="Text 5"/>
          <p:cNvSpPr/>
          <p:nvPr/>
        </p:nvSpPr>
        <p:spPr bwMode="auto">
          <a:xfrm>
            <a:off x="658440" y="1261800"/>
            <a:ext cx="4983120" cy="90648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defRPr/>
            </a:pPr>
            <a:r>
              <a:rPr lang="en-US" sz="3400" b="1" u="none" strike="noStrike">
                <a:solidFill>
                  <a:srgbClr val="06111F"/>
                </a:solidFill>
                <a:latin typeface="Aptos Display"/>
                <a:ea typeface="Aptos Display"/>
              </a:rPr>
              <a:t>A multi-component stack,</a:t>
            </a:r>
            <a:endParaRPr lang="sk" sz="3400" b="0" u="none" strike="noStrike">
              <a:solidFill>
                <a:srgbClr val="000000"/>
              </a:solidFill>
              <a:latin typeface="Calibri"/>
            </a:endParaRPr>
          </a:p>
          <a:p>
            <a:pPr defTabSz="914400">
              <a:lnSpc>
                <a:spcPct val="100000"/>
              </a:lnSpc>
              <a:tabLst>
                <a:tab pos="0" algn="l"/>
              </a:tabLst>
              <a:defRPr/>
            </a:pPr>
            <a:r>
              <a:rPr lang="en-US" sz="3400" b="1" u="none" strike="noStrike">
                <a:solidFill>
                  <a:srgbClr val="06111F"/>
                </a:solidFill>
                <a:latin typeface="Aptos Display"/>
                <a:ea typeface="Aptos Display"/>
              </a:rPr>
              <a:t>managed as one unit.</a:t>
            </a:r>
            <a:endParaRPr lang="sk" sz="3400" b="0" u="none" strike="noStrike">
              <a:solidFill>
                <a:srgbClr val="000000"/>
              </a:solidFill>
              <a:latin typeface="Calibri"/>
            </a:endParaRPr>
          </a:p>
        </p:txBody>
      </p:sp>
      <p:sp>
        <p:nvSpPr>
          <p:cNvPr id="1365956886" name="Shape 6"/>
          <p:cNvSpPr/>
          <p:nvPr/>
        </p:nvSpPr>
        <p:spPr bwMode="auto">
          <a:xfrm>
            <a:off x="713160" y="3127320"/>
            <a:ext cx="2175840" cy="529920"/>
          </a:xfrm>
          <a:prstGeom prst="roundRect">
            <a:avLst>
              <a:gd name="adj" fmla="val 17241"/>
            </a:avLst>
          </a:prstGeom>
          <a:solidFill>
            <a:srgbClr val="FFFFFF"/>
          </a:solidFill>
          <a:ln w="12700">
            <a:solidFill>
              <a:srgbClr val="30D6FF">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504694293" name="Text 7"/>
          <p:cNvSpPr/>
          <p:nvPr/>
        </p:nvSpPr>
        <p:spPr bwMode="auto">
          <a:xfrm>
            <a:off x="850320" y="3237120"/>
            <a:ext cx="658080" cy="14580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000" b="1" u="none" strike="noStrike">
                <a:solidFill>
                  <a:srgbClr val="06111F"/>
                </a:solidFill>
                <a:latin typeface="Aptos"/>
              </a:rPr>
              <a:t>HTTPS</a:t>
            </a:r>
            <a:endParaRPr lang="sk" sz="1000" b="0" u="none" strike="noStrike">
              <a:solidFill>
                <a:srgbClr val="000000"/>
              </a:solidFill>
              <a:latin typeface="Calibri"/>
            </a:endParaRPr>
          </a:p>
        </p:txBody>
      </p:sp>
      <p:sp>
        <p:nvSpPr>
          <p:cNvPr id="1644193734" name="Text 8"/>
          <p:cNvSpPr/>
          <p:nvPr/>
        </p:nvSpPr>
        <p:spPr bwMode="auto">
          <a:xfrm>
            <a:off x="1673280" y="3269160"/>
            <a:ext cx="959760" cy="16416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defRPr/>
            </a:pPr>
            <a:r>
              <a:rPr lang="en-US" sz="650" b="0" u="none" strike="noStrike">
                <a:solidFill>
                  <a:srgbClr val="2B566D"/>
                </a:solidFill>
                <a:latin typeface="Aptos"/>
              </a:rPr>
              <a:t>Integrated Let’s Encrypt workflow</a:t>
            </a:r>
            <a:endParaRPr lang="sk" sz="650" b="0" u="none" strike="noStrike">
              <a:solidFill>
                <a:srgbClr val="000000"/>
              </a:solidFill>
              <a:latin typeface="Calibri"/>
            </a:endParaRPr>
          </a:p>
        </p:txBody>
      </p:sp>
      <p:sp>
        <p:nvSpPr>
          <p:cNvPr id="12062592" name="Shape 9"/>
          <p:cNvSpPr/>
          <p:nvPr/>
        </p:nvSpPr>
        <p:spPr bwMode="auto">
          <a:xfrm>
            <a:off x="3255120" y="3127320"/>
            <a:ext cx="2175840" cy="529920"/>
          </a:xfrm>
          <a:prstGeom prst="roundRect">
            <a:avLst>
              <a:gd name="adj" fmla="val 17241"/>
            </a:avLst>
          </a:prstGeom>
          <a:solidFill>
            <a:srgbClr val="FFFFFF"/>
          </a:solidFill>
          <a:ln w="12700">
            <a:solidFill>
              <a:srgbClr val="FF8A2A">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807451557" name="Text 10"/>
          <p:cNvSpPr/>
          <p:nvPr/>
        </p:nvSpPr>
        <p:spPr bwMode="auto">
          <a:xfrm>
            <a:off x="3392280" y="3237120"/>
            <a:ext cx="658080" cy="14580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000" b="1" u="none" strike="noStrike">
                <a:solidFill>
                  <a:srgbClr val="06111F"/>
                </a:solidFill>
                <a:latin typeface="Aptos"/>
              </a:rPr>
              <a:t>Stack</a:t>
            </a:r>
            <a:endParaRPr lang="sk" sz="1000" b="0" u="none" strike="noStrike">
              <a:solidFill>
                <a:srgbClr val="000000"/>
              </a:solidFill>
              <a:latin typeface="Calibri"/>
            </a:endParaRPr>
          </a:p>
        </p:txBody>
      </p:sp>
      <p:sp>
        <p:nvSpPr>
          <p:cNvPr id="1805730997" name="Text 11"/>
          <p:cNvSpPr/>
          <p:nvPr/>
        </p:nvSpPr>
        <p:spPr bwMode="auto">
          <a:xfrm>
            <a:off x="4215240" y="3269160"/>
            <a:ext cx="959760" cy="16416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defRPr/>
            </a:pPr>
            <a:r>
              <a:rPr lang="en-US" sz="650" b="0" u="none" strike="noStrike">
                <a:solidFill>
                  <a:srgbClr val="2B566D"/>
                </a:solidFill>
                <a:latin typeface="Aptos"/>
              </a:rPr>
              <a:t>Apache · PHP · MySQL · Redis</a:t>
            </a:r>
            <a:endParaRPr lang="sk" sz="650" b="0" u="none" strike="noStrike">
              <a:solidFill>
                <a:srgbClr val="000000"/>
              </a:solidFill>
              <a:latin typeface="Calibri"/>
            </a:endParaRPr>
          </a:p>
        </p:txBody>
      </p:sp>
      <p:sp>
        <p:nvSpPr>
          <p:cNvPr id="707027888" name="Shape 12"/>
          <p:cNvSpPr/>
          <p:nvPr/>
        </p:nvSpPr>
        <p:spPr bwMode="auto">
          <a:xfrm>
            <a:off x="713160" y="3877200"/>
            <a:ext cx="2175840" cy="529920"/>
          </a:xfrm>
          <a:prstGeom prst="roundRect">
            <a:avLst>
              <a:gd name="adj" fmla="val 17241"/>
            </a:avLst>
          </a:prstGeom>
          <a:solidFill>
            <a:srgbClr val="FFFFFF"/>
          </a:solidFill>
          <a:ln w="12700">
            <a:solidFill>
              <a:srgbClr val="52E2A8">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226063774" name="Text 13"/>
          <p:cNvSpPr/>
          <p:nvPr/>
        </p:nvSpPr>
        <p:spPr bwMode="auto">
          <a:xfrm>
            <a:off x="850320" y="3986640"/>
            <a:ext cx="658080" cy="14580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000" b="1" u="none" strike="noStrike">
                <a:solidFill>
                  <a:srgbClr val="06111F"/>
                </a:solidFill>
                <a:latin typeface="Aptos"/>
              </a:rPr>
              <a:t>Refreshes</a:t>
            </a:r>
            <a:endParaRPr lang="sk" sz="1000" b="0" u="none" strike="noStrike">
              <a:solidFill>
                <a:srgbClr val="000000"/>
              </a:solidFill>
              <a:latin typeface="Calibri"/>
            </a:endParaRPr>
          </a:p>
        </p:txBody>
      </p:sp>
      <p:sp>
        <p:nvSpPr>
          <p:cNvPr id="304648421" name="Text 14"/>
          <p:cNvSpPr/>
          <p:nvPr/>
        </p:nvSpPr>
        <p:spPr bwMode="auto">
          <a:xfrm>
            <a:off x="1673280" y="4018680"/>
            <a:ext cx="959760" cy="16416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defRPr/>
            </a:pPr>
            <a:r>
              <a:rPr lang="en-US" sz="650" b="0" u="none" strike="noStrike">
                <a:solidFill>
                  <a:srgbClr val="2B566D"/>
                </a:solidFill>
                <a:latin typeface="Aptos"/>
              </a:rPr>
              <a:t>Automatic updates with configurable timing</a:t>
            </a:r>
            <a:endParaRPr lang="sk" sz="650" b="0" u="none" strike="noStrike">
              <a:solidFill>
                <a:srgbClr val="000000"/>
              </a:solidFill>
              <a:latin typeface="Calibri"/>
            </a:endParaRPr>
          </a:p>
        </p:txBody>
      </p:sp>
      <p:sp>
        <p:nvSpPr>
          <p:cNvPr id="855691263" name="Shape 15"/>
          <p:cNvSpPr/>
          <p:nvPr/>
        </p:nvSpPr>
        <p:spPr bwMode="auto">
          <a:xfrm>
            <a:off x="3255120" y="3877200"/>
            <a:ext cx="2175840" cy="529920"/>
          </a:xfrm>
          <a:prstGeom prst="roundRect">
            <a:avLst>
              <a:gd name="adj" fmla="val 17241"/>
            </a:avLst>
          </a:prstGeom>
          <a:solidFill>
            <a:srgbClr val="FFFFFF"/>
          </a:solidFill>
          <a:ln w="12700">
            <a:solidFill>
              <a:srgbClr val="795CFF">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864677604" name="Text 16"/>
          <p:cNvSpPr/>
          <p:nvPr/>
        </p:nvSpPr>
        <p:spPr bwMode="auto">
          <a:xfrm>
            <a:off x="3392280" y="3986640"/>
            <a:ext cx="658080" cy="14580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000" b="1" u="none" strike="noStrike">
                <a:solidFill>
                  <a:srgbClr val="06111F"/>
                </a:solidFill>
                <a:latin typeface="Aptos"/>
              </a:rPr>
              <a:t>Snapshots</a:t>
            </a:r>
            <a:endParaRPr lang="sk" sz="1000" b="0" u="none" strike="noStrike">
              <a:solidFill>
                <a:srgbClr val="000000"/>
              </a:solidFill>
              <a:latin typeface="Calibri"/>
            </a:endParaRPr>
          </a:p>
        </p:txBody>
      </p:sp>
      <p:sp>
        <p:nvSpPr>
          <p:cNvPr id="645037564" name="Text 17"/>
          <p:cNvSpPr/>
          <p:nvPr/>
        </p:nvSpPr>
        <p:spPr bwMode="auto">
          <a:xfrm>
            <a:off x="4215240" y="4018680"/>
            <a:ext cx="959760" cy="16416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defRPr/>
            </a:pPr>
            <a:r>
              <a:rPr lang="en-US" sz="650" b="0" u="none" strike="noStrike">
                <a:solidFill>
                  <a:srgbClr val="2B566D"/>
                </a:solidFill>
                <a:latin typeface="Aptos"/>
              </a:rPr>
              <a:t>Built-in snap snapshots and backup options</a:t>
            </a:r>
            <a:endParaRPr lang="sk" sz="650" b="0" u="none" strike="noStrike">
              <a:solidFill>
                <a:srgbClr val="000000"/>
              </a:solidFill>
              <a:latin typeface="Calibri"/>
            </a:endParaRPr>
          </a:p>
        </p:txBody>
      </p:sp>
      <p:sp>
        <p:nvSpPr>
          <p:cNvPr id="1237326770" name="Shape 18"/>
          <p:cNvSpPr/>
          <p:nvPr/>
        </p:nvSpPr>
        <p:spPr bwMode="auto">
          <a:xfrm>
            <a:off x="713160" y="4626720"/>
            <a:ext cx="2175840" cy="529920"/>
          </a:xfrm>
          <a:prstGeom prst="roundRect">
            <a:avLst>
              <a:gd name="adj" fmla="val 17241"/>
            </a:avLst>
          </a:prstGeom>
          <a:solidFill>
            <a:srgbClr val="FFFFFF"/>
          </a:solidFill>
          <a:ln w="12700">
            <a:solidFill>
              <a:srgbClr val="0082C9">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118415634" name="Text 19"/>
          <p:cNvSpPr/>
          <p:nvPr/>
        </p:nvSpPr>
        <p:spPr bwMode="auto">
          <a:xfrm>
            <a:off x="850320" y="4736520"/>
            <a:ext cx="658080" cy="14580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000" b="1" u="none" strike="noStrike">
                <a:solidFill>
                  <a:srgbClr val="06111F"/>
                </a:solidFill>
                <a:latin typeface="Aptos"/>
              </a:rPr>
              <a:t>Docs</a:t>
            </a:r>
            <a:endParaRPr lang="sk" sz="1000" b="0" u="none" strike="noStrike">
              <a:solidFill>
                <a:srgbClr val="000000"/>
              </a:solidFill>
              <a:latin typeface="Calibri"/>
            </a:endParaRPr>
          </a:p>
        </p:txBody>
      </p:sp>
      <p:sp>
        <p:nvSpPr>
          <p:cNvPr id="1849121244" name="Text 20"/>
          <p:cNvSpPr/>
          <p:nvPr/>
        </p:nvSpPr>
        <p:spPr bwMode="auto">
          <a:xfrm>
            <a:off x="1673280" y="4768560"/>
            <a:ext cx="959760" cy="16416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defRPr/>
            </a:pPr>
            <a:r>
              <a:rPr lang="en-US" sz="650" b="0" u="none" strike="noStrike">
                <a:solidFill>
                  <a:srgbClr val="2B566D"/>
                </a:solidFill>
                <a:latin typeface="Aptos"/>
              </a:rPr>
              <a:t>Wiki, FAQ and community forum support</a:t>
            </a:r>
            <a:endParaRPr lang="sk" sz="650" b="0" u="none" strike="noStrike">
              <a:solidFill>
                <a:srgbClr val="000000"/>
              </a:solidFill>
              <a:latin typeface="Calibri"/>
            </a:endParaRPr>
          </a:p>
        </p:txBody>
      </p:sp>
      <p:sp>
        <p:nvSpPr>
          <p:cNvPr id="1654362029" name="Shape 21"/>
          <p:cNvSpPr/>
          <p:nvPr/>
        </p:nvSpPr>
        <p:spPr bwMode="auto">
          <a:xfrm>
            <a:off x="3255120" y="4626720"/>
            <a:ext cx="2175840" cy="529920"/>
          </a:xfrm>
          <a:prstGeom prst="roundRect">
            <a:avLst>
              <a:gd name="adj" fmla="val 17241"/>
            </a:avLst>
          </a:prstGeom>
          <a:solidFill>
            <a:srgbClr val="FFFFFF"/>
          </a:solidFill>
          <a:ln w="12700">
            <a:solidFill>
              <a:srgbClr val="FF8A2A">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183275910" name="Text 22"/>
          <p:cNvSpPr/>
          <p:nvPr/>
        </p:nvSpPr>
        <p:spPr bwMode="auto">
          <a:xfrm>
            <a:off x="3392280" y="4736520"/>
            <a:ext cx="658080" cy="14580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defRPr/>
            </a:pPr>
            <a:r>
              <a:rPr lang="en-US" sz="1000" b="1" u="none" strike="noStrike">
                <a:solidFill>
                  <a:srgbClr val="06111F"/>
                </a:solidFill>
                <a:latin typeface="Aptos"/>
              </a:rPr>
              <a:t>Office</a:t>
            </a:r>
            <a:endParaRPr lang="sk" sz="1000" b="0" u="none" strike="noStrike">
              <a:solidFill>
                <a:srgbClr val="000000"/>
              </a:solidFill>
              <a:latin typeface="Calibri"/>
            </a:endParaRPr>
          </a:p>
        </p:txBody>
      </p:sp>
      <p:sp>
        <p:nvSpPr>
          <p:cNvPr id="2063238650" name="Text 23"/>
          <p:cNvSpPr/>
          <p:nvPr/>
        </p:nvSpPr>
        <p:spPr bwMode="auto">
          <a:xfrm>
            <a:off x="4215240" y="4768560"/>
            <a:ext cx="959760" cy="16416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defRPr/>
            </a:pPr>
            <a:r>
              <a:rPr lang="en-US" sz="650" b="0" u="none" strike="noStrike">
                <a:solidFill>
                  <a:srgbClr val="2B566D"/>
                </a:solidFill>
                <a:latin typeface="Aptos"/>
              </a:rPr>
              <a:t>Nextcloud Office / Collabora CODE support</a:t>
            </a:r>
            <a:endParaRPr lang="sk" sz="650" b="0" u="none" strike="noStrike">
              <a:solidFill>
                <a:srgbClr val="000000"/>
              </a:solidFill>
              <a:latin typeface="Calibri"/>
            </a:endParaRPr>
          </a:p>
        </p:txBody>
      </p:sp>
      <p:sp>
        <p:nvSpPr>
          <p:cNvPr id="1970953282" name="Text 24"/>
          <p:cNvSpPr/>
          <p:nvPr/>
        </p:nvSpPr>
        <p:spPr bwMode="auto">
          <a:xfrm flipH="0" flipV="0">
            <a:off x="1508400" y="2122176"/>
            <a:ext cx="10040366" cy="878592"/>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ctr" anchorCtr="0" forceAA="0" upright="0" compatLnSpc="0">
            <a:normAutofit/>
          </a:bodyPr>
          <a:p>
            <a:pPr defTabSz="914400">
              <a:lnSpc>
                <a:spcPct val="100000"/>
              </a:lnSpc>
              <a:tabLst>
                <a:tab pos="0" algn="l"/>
              </a:tabLst>
              <a:defRPr/>
            </a:pPr>
            <a:r>
              <a:rPr lang="en-US" sz="1800" b="0" u="none" strike="noStrike">
                <a:solidFill>
                  <a:srgbClr val="123147"/>
                </a:solidFill>
                <a:latin typeface="Aptos"/>
              </a:rPr>
              <a:t>The goal is “install and forget” — keeping the deployment configurable and upgradeable</a:t>
            </a:r>
            <a:endParaRPr lang="sk" sz="1200" b="0" u="none" strike="noStrike">
              <a:solidFill>
                <a:srgbClr val="000000"/>
              </a:solidFill>
              <a:latin typeface="Calibri"/>
            </a:endParaRPr>
          </a:p>
        </p:txBody>
      </p:sp>
      <p:sp>
        <p:nvSpPr>
          <p:cNvPr id="1960753030" name="Rounded Rectangle 27"/>
          <p:cNvSpPr/>
          <p:nvPr/>
        </p:nvSpPr>
        <p:spPr bwMode="auto">
          <a:xfrm>
            <a:off x="393120" y="155520"/>
            <a:ext cx="2605680" cy="383760"/>
          </a:xfrm>
          <a:prstGeom prst="roundRect">
            <a:avLst>
              <a:gd name="adj" fmla="val 16667"/>
            </a:avLst>
          </a:prstGeom>
          <a:solidFill>
            <a:srgbClr val="FFFFFF"/>
          </a:solidFill>
          <a:ln>
            <a:solidFill>
              <a:srgbClr val="0082C9"/>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defRPr/>
            </a:pPr>
            <a:endParaRPr lang="sk" sz="1800" b="0" u="none" strike="noStrike">
              <a:solidFill>
                <a:schemeClr val="lt1"/>
              </a:solidFill>
              <a:latin typeface="Aptos"/>
            </a:endParaRPr>
          </a:p>
        </p:txBody>
      </p:sp>
      <p:pic>
        <p:nvPicPr>
          <p:cNvPr id="112237279" name="Picture 28" descr="nextcloud_icon_blue.png"/>
          <p:cNvPicPr/>
          <p:nvPr/>
        </p:nvPicPr>
        <p:blipFill rotWithShape="1">
          <a:blip r:embed="rId4"/>
          <a:stretch/>
        </p:blipFill>
        <p:spPr bwMode="auto">
          <a:xfrm>
            <a:off x="502920" y="219600"/>
            <a:ext cx="519120" cy="255600"/>
          </a:xfrm>
          <a:prstGeom prst="rect">
            <a:avLst/>
          </a:prstGeom>
          <a:noFill/>
          <a:ln w="0">
            <a:noFill/>
          </a:ln>
        </p:spPr>
      </p:pic>
      <p:sp>
        <p:nvSpPr>
          <p:cNvPr id="1438939216" name="TextBox 29"/>
          <p:cNvSpPr/>
          <p:nvPr/>
        </p:nvSpPr>
        <p:spPr bwMode="auto">
          <a:xfrm>
            <a:off x="1005840" y="214920"/>
            <a:ext cx="1572480" cy="22824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defRPr/>
            </a:pPr>
            <a:r>
              <a:rPr lang="sk" sz="1300" b="1" u="none" strike="noStrike">
                <a:solidFill>
                  <a:srgbClr val="0082C9"/>
                </a:solidFill>
                <a:latin typeface="Aptos"/>
              </a:rPr>
              <a:t>Nextcloud</a:t>
            </a:r>
            <a:endParaRPr lang="sk" sz="1300" b="0" u="none" strike="noStrike">
              <a:solidFill>
                <a:srgbClr val="000000"/>
              </a:solidFill>
              <a:latin typeface="Calibri"/>
            </a:endParaRPr>
          </a:p>
        </p:txBody>
      </p:sp>
      <p:sp>
        <p:nvSpPr>
          <p:cNvPr id="1010886629" name="Rounded Rectangle 30"/>
          <p:cNvSpPr/>
          <p:nvPr/>
        </p:nvSpPr>
        <p:spPr bwMode="auto">
          <a:xfrm>
            <a:off x="2468880" y="233280"/>
            <a:ext cx="438480" cy="200880"/>
          </a:xfrm>
          <a:prstGeom prst="roundRect">
            <a:avLst>
              <a:gd name="adj" fmla="val 16667"/>
            </a:avLst>
          </a:prstGeom>
          <a:solidFill>
            <a:srgbClr val="0082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914400">
              <a:lnSpc>
                <a:spcPct val="100000"/>
              </a:lnSpc>
              <a:defRPr/>
            </a:pPr>
            <a:r>
              <a:rPr lang="sk" sz="650" b="1" u="none" strike="noStrike">
                <a:solidFill>
                  <a:srgbClr val="FFFFFF"/>
                </a:solidFill>
                <a:latin typeface="Aptos"/>
              </a:rPr>
              <a:t>SNAP</a:t>
            </a:r>
            <a:endParaRPr lang="sk" sz="650" b="0" u="none" strike="noStrike">
              <a:solidFill>
                <a:srgbClr val="FFFFFF"/>
              </a:solidFill>
              <a:latin typeface="Calibri"/>
            </a:endParaRPr>
          </a:p>
        </p:txBody>
      </p:sp>
      <p:sp>
        <p:nvSpPr>
          <p:cNvPr id="1697387871" name="Rectangle 31"/>
          <p:cNvSpPr/>
          <p:nvPr/>
        </p:nvSpPr>
        <p:spPr bwMode="auto">
          <a:xfrm>
            <a:off x="502920" y="6336720"/>
            <a:ext cx="1234080" cy="31680"/>
          </a:xfrm>
          <a:prstGeom prst="rect">
            <a:avLst/>
          </a:prstGeom>
          <a:solidFill>
            <a:srgbClr val="0082C9"/>
          </a:solidFill>
          <a:ln>
            <a:noFill/>
          </a:ln>
        </p:spPr>
        <p:style>
          <a:lnRef idx="1">
            <a:schemeClr val="accent1"/>
          </a:lnRef>
          <a:fillRef idx="3">
            <a:schemeClr val="accent1"/>
          </a:fillRef>
          <a:effectRef idx="2">
            <a:schemeClr val="accent1"/>
          </a:effectRef>
          <a:fontRef idx="minor"/>
        </p:style>
        <p:txBody>
          <a:bodyPr lIns="90000" tIns="-12960" rIns="90000" bIns="-12960" anchor="ctr">
            <a:noAutofit/>
          </a:bodyPr>
          <a:p>
            <a:pPr>
              <a:defRPr/>
            </a:pPr>
            <a:endParaRPr lang="sk" sz="1800" b="0" u="none" strike="noStrike">
              <a:solidFill>
                <a:schemeClr val="lt1"/>
              </a:solidFill>
              <a:latin typeface="Aptos"/>
            </a:endParaRPr>
          </a:p>
        </p:txBody>
      </p:sp>
      <p:sp>
        <p:nvSpPr>
          <p:cNvPr id="667687779" name=""/>
          <p:cNvSpPr/>
          <p:nvPr/>
        </p:nvSpPr>
        <p:spPr bwMode="auto">
          <a:xfrm flipH="0" flipV="0">
            <a:off x="6723780" y="3498417"/>
            <a:ext cx="3252745" cy="146340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marL="0" marR="0" indent="0" algn="l">
              <a:lnSpc>
                <a:spcPct val="100000"/>
              </a:lnSpc>
              <a:spcBef>
                <a:spcPts val="0"/>
              </a:spcBef>
              <a:spcAft>
                <a:spcPts val="0"/>
              </a:spcAft>
              <a:tabLst>
                <a:tab pos="0" algn="l"/>
              </a:tabLst>
              <a:defRPr/>
            </a:pPr>
            <a:r>
              <a:rPr lang="en-US" sz="1800" b="1" i="0" u="none" strike="noStrike" cap="none" spc="0">
                <a:solidFill>
                  <a:srgbClr val="123147"/>
                </a:solidFill>
                <a:latin typeface="Aptos"/>
                <a:ea typeface="Aptos"/>
                <a:cs typeface="Aptos"/>
              </a:rPr>
              <a:t>Snap is opinionated</a:t>
            </a:r>
            <a:endParaRPr sz="1800" b="1" i="0" u="none" strike="noStrike" cap="none" spc="0">
              <a:solidFill>
                <a:srgbClr val="123147"/>
              </a:solidFill>
              <a:latin typeface="Aptos"/>
              <a:cs typeface="Aptos"/>
            </a:endParaRPr>
          </a:p>
          <a:p>
            <a:pPr marL="261850" marR="0" indent="-261850" algn="l">
              <a:lnSpc>
                <a:spcPct val="100000"/>
              </a:lnSpc>
              <a:spcBef>
                <a:spcPts val="0"/>
              </a:spcBef>
              <a:spcAft>
                <a:spcPts val="0"/>
              </a:spcAft>
              <a:buFont typeface="Arial"/>
              <a:buChar char="•"/>
              <a:tabLst>
                <a:tab pos="0" algn="l"/>
              </a:tabLst>
              <a:defRPr/>
            </a:pPr>
            <a:r>
              <a:rPr lang="en-US" sz="1800" b="0" i="0" u="none" strike="noStrike" cap="none" spc="0">
                <a:solidFill>
                  <a:srgbClr val="123147"/>
                </a:solidFill>
                <a:latin typeface="Aptos"/>
                <a:ea typeface="Aptos"/>
                <a:cs typeface="Aptos"/>
              </a:rPr>
              <a:t> </a:t>
            </a:r>
            <a:r>
              <a:rPr lang="en-US" sz="1800" b="0" i="0" u="none" strike="noStrike" cap="none" spc="0">
                <a:solidFill>
                  <a:srgbClr val="123147"/>
                </a:solidFill>
                <a:latin typeface="Aptos"/>
                <a:ea typeface="Aptos"/>
                <a:cs typeface="Aptos"/>
              </a:rPr>
              <a:t>Apache</a:t>
            </a:r>
            <a:endParaRPr sz="1800" b="0" i="0" u="none" strike="noStrike" cap="none" spc="0">
              <a:solidFill>
                <a:srgbClr val="123147"/>
              </a:solidFill>
              <a:latin typeface="Aptos"/>
              <a:cs typeface="Aptos"/>
            </a:endParaRPr>
          </a:p>
          <a:p>
            <a:pPr marL="261850" marR="0" indent="-261850" algn="l">
              <a:lnSpc>
                <a:spcPct val="100000"/>
              </a:lnSpc>
              <a:spcBef>
                <a:spcPts val="0"/>
              </a:spcBef>
              <a:spcAft>
                <a:spcPts val="0"/>
              </a:spcAft>
              <a:buFont typeface="Arial"/>
              <a:buChar char="•"/>
              <a:tabLst>
                <a:tab pos="0" algn="l"/>
              </a:tabLst>
              <a:defRPr/>
            </a:pPr>
            <a:r>
              <a:rPr lang="en-US" sz="1800" b="0" i="0" u="none" strike="noStrike" cap="none" spc="0">
                <a:solidFill>
                  <a:srgbClr val="123147"/>
                </a:solidFill>
                <a:latin typeface="Aptos"/>
                <a:ea typeface="Aptos"/>
                <a:cs typeface="Aptos"/>
              </a:rPr>
              <a:t> MySQL</a:t>
            </a:r>
            <a:endParaRPr sz="1800" b="0" i="0" u="none" strike="noStrike" cap="none" spc="0">
              <a:solidFill>
                <a:srgbClr val="123147"/>
              </a:solidFill>
              <a:latin typeface="Aptos"/>
              <a:cs typeface="Aptos"/>
            </a:endParaRPr>
          </a:p>
          <a:p>
            <a:pPr marL="261850" marR="0" indent="-261850" algn="l">
              <a:lnSpc>
                <a:spcPct val="100000"/>
              </a:lnSpc>
              <a:spcBef>
                <a:spcPts val="0"/>
              </a:spcBef>
              <a:spcAft>
                <a:spcPts val="0"/>
              </a:spcAft>
              <a:buFont typeface="Arial"/>
              <a:buChar char="•"/>
              <a:tabLst>
                <a:tab pos="0" algn="l"/>
              </a:tabLst>
              <a:defRPr/>
            </a:pPr>
            <a:r>
              <a:rPr lang="en-US" sz="1800" b="0" i="0" u="none" strike="noStrike" cap="none" spc="0">
                <a:solidFill>
                  <a:srgbClr val="123147"/>
                </a:solidFill>
                <a:latin typeface="Aptos"/>
                <a:ea typeface="Aptos"/>
                <a:cs typeface="Aptos"/>
              </a:rPr>
              <a:t> </a:t>
            </a:r>
            <a:r>
              <a:rPr lang="en-US" sz="1800" b="0" i="0" u="none" strike="noStrike" cap="none" spc="0">
                <a:solidFill>
                  <a:srgbClr val="123147"/>
                </a:solidFill>
                <a:latin typeface="Aptos"/>
                <a:ea typeface="Aptos"/>
                <a:cs typeface="Aptos"/>
              </a:rPr>
              <a:t>PHP</a:t>
            </a:r>
            <a:endParaRPr sz="1800" b="0" i="0" u="none" strike="noStrike" cap="none" spc="0">
              <a:solidFill>
                <a:srgbClr val="123147"/>
              </a:solidFill>
              <a:latin typeface="Aptos"/>
              <a:cs typeface="Aptos"/>
            </a:endParaRPr>
          </a:p>
          <a:p>
            <a:pPr marL="261850" marR="0" indent="-261850" algn="l">
              <a:lnSpc>
                <a:spcPct val="100000"/>
              </a:lnSpc>
              <a:spcBef>
                <a:spcPts val="0"/>
              </a:spcBef>
              <a:spcAft>
                <a:spcPts val="0"/>
              </a:spcAft>
              <a:buFont typeface="Arial"/>
              <a:buChar char="•"/>
              <a:tabLst>
                <a:tab pos="0" algn="l"/>
              </a:tabLst>
              <a:defRPr/>
            </a:pPr>
            <a:r>
              <a:rPr lang="en-US" sz="1800" b="0" i="0" u="none" strike="noStrike" cap="none" spc="0">
                <a:solidFill>
                  <a:srgbClr val="123147"/>
                </a:solidFill>
                <a:latin typeface="Aptos"/>
                <a:ea typeface="Aptos"/>
                <a:cs typeface="Aptos"/>
              </a:rPr>
              <a:t> </a:t>
            </a:r>
            <a:r>
              <a:rPr lang="en-US" sz="1800" b="0" i="0" u="none" strike="noStrike" cap="none" spc="0">
                <a:solidFill>
                  <a:srgbClr val="123147"/>
                </a:solidFill>
                <a:latin typeface="Aptos"/>
                <a:ea typeface="Aptos"/>
                <a:cs typeface="Aptos"/>
              </a:rPr>
              <a:t>Redis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6111F"/>
        </a:solidFill>
      </p:bgPr>
    </p:bg>
    <p:spTree>
      <p:nvGrpSpPr>
        <p:cNvPr id="1" name=""/>
        <p:cNvGrpSpPr/>
        <p:nvPr/>
      </p:nvGrpSpPr>
      <p:grpSpPr bwMode="auto">
        <a:xfrm>
          <a:off x="0" y="0"/>
          <a:ext cx="0" cy="0"/>
          <a:chOff x="0" y="0"/>
          <a:chExt cx="0" cy="0"/>
        </a:xfrm>
      </p:grpSpPr>
      <p:pic>
        <p:nvPicPr>
          <p:cNvPr id="2008045500" name="Image 0" descr="/mnt/data/bg_secure_dark.png"/>
          <p:cNvPicPr/>
          <p:nvPr/>
        </p:nvPicPr>
        <p:blipFill rotWithShape="1">
          <a:blip r:embed="rId3"/>
          <a:stretch/>
        </p:blipFill>
        <p:spPr bwMode="auto">
          <a:xfrm>
            <a:off x="7920" y="0"/>
            <a:ext cx="12191400" cy="6857640"/>
          </a:xfrm>
          <a:prstGeom prst="rect">
            <a:avLst/>
          </a:prstGeom>
          <a:noFill/>
          <a:ln w="0">
            <a:noFill/>
          </a:ln>
        </p:spPr>
      </p:pic>
      <p:sp>
        <p:nvSpPr>
          <p:cNvPr id="1255868581" name="Text 1"/>
          <p:cNvSpPr/>
          <p:nvPr/>
        </p:nvSpPr>
        <p:spPr bwMode="auto">
          <a:xfrm>
            <a:off x="11292840" y="255960"/>
            <a:ext cx="36540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defRPr/>
            </a:pPr>
            <a:r>
              <a:rPr lang="en-US" sz="800" b="1" u="none" strike="noStrike">
                <a:solidFill>
                  <a:srgbClr val="B9CBDA"/>
                </a:solidFill>
                <a:latin typeface="Aptos"/>
                <a:ea typeface="Aptos"/>
              </a:rPr>
              <a:t>05</a:t>
            </a:r>
            <a:endParaRPr lang="sk" sz="800" b="0" u="none" strike="noStrike">
              <a:solidFill>
                <a:srgbClr val="FFFFFF"/>
              </a:solidFill>
              <a:latin typeface="Calibri"/>
            </a:endParaRPr>
          </a:p>
        </p:txBody>
      </p:sp>
      <p:sp>
        <p:nvSpPr>
          <p:cNvPr id="107231881" name="Shape 2"/>
          <p:cNvSpPr/>
          <p:nvPr/>
        </p:nvSpPr>
        <p:spPr bwMode="auto">
          <a:xfrm>
            <a:off x="502920" y="566640"/>
            <a:ext cx="11201400" cy="360"/>
          </a:xfrm>
          <a:prstGeom prst="line">
            <a:avLst/>
          </a:prstGeom>
          <a:ln w="8890">
            <a:solidFill>
              <a:srgbClr val="31536B">
                <a:alpha val="65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508942528" name="Shape 3"/>
          <p:cNvSpPr/>
          <p:nvPr/>
        </p:nvSpPr>
        <p:spPr bwMode="auto">
          <a:xfrm>
            <a:off x="585358" y="1135980"/>
            <a:ext cx="1261440" cy="383760"/>
          </a:xfrm>
          <a:prstGeom prst="roundRect">
            <a:avLst>
              <a:gd name="adj" fmla="val 21429"/>
            </a:avLst>
          </a:prstGeom>
          <a:solidFill>
            <a:srgbClr val="52E2A8">
              <a:alpha val="96000"/>
            </a:srgbClr>
          </a:solidFill>
          <a:ln w="12700">
            <a:solidFill>
              <a:srgbClr val="52E2A8">
                <a:alpha val="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116330620" name="Text 4"/>
          <p:cNvSpPr/>
          <p:nvPr/>
        </p:nvSpPr>
        <p:spPr bwMode="auto">
          <a:xfrm>
            <a:off x="722519" y="1243980"/>
            <a:ext cx="987120" cy="145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50" b="1" u="none" strike="noStrike">
                <a:solidFill>
                  <a:srgbClr val="FFFFFF"/>
                </a:solidFill>
                <a:latin typeface="Aptos"/>
              </a:rPr>
              <a:t>LIFECYCLE</a:t>
            </a:r>
            <a:endParaRPr lang="sk" sz="850" b="0" u="none" strike="noStrike">
              <a:solidFill>
                <a:srgbClr val="FFFFFF"/>
              </a:solidFill>
              <a:latin typeface="Calibri"/>
            </a:endParaRPr>
          </a:p>
        </p:txBody>
      </p:sp>
      <p:sp>
        <p:nvSpPr>
          <p:cNvPr id="964553001" name="Text 5"/>
          <p:cNvSpPr/>
          <p:nvPr/>
        </p:nvSpPr>
        <p:spPr bwMode="auto">
          <a:xfrm>
            <a:off x="585358" y="1593180"/>
            <a:ext cx="4663080" cy="139968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defRPr/>
            </a:pPr>
            <a:r>
              <a:rPr lang="en-US" sz="3500" b="1" u="none" strike="noStrike">
                <a:solidFill>
                  <a:srgbClr val="FFFFFF"/>
                </a:solidFill>
                <a:latin typeface="Aptos Display"/>
                <a:ea typeface="Aptos Display"/>
              </a:rPr>
              <a:t>Updates should feel</a:t>
            </a:r>
            <a:endParaRPr lang="sk" sz="3500" b="0" u="none" strike="noStrike">
              <a:solidFill>
                <a:srgbClr val="FFFFFF"/>
              </a:solidFill>
              <a:latin typeface="Calibri"/>
            </a:endParaRPr>
          </a:p>
          <a:p>
            <a:pPr defTabSz="914400">
              <a:lnSpc>
                <a:spcPct val="100000"/>
              </a:lnSpc>
              <a:tabLst>
                <a:tab pos="0" algn="l"/>
              </a:tabLst>
              <a:defRPr/>
            </a:pPr>
            <a:r>
              <a:rPr lang="en-US" sz="3500" b="1" u="none" strike="noStrike">
                <a:solidFill>
                  <a:srgbClr val="FFFFFF"/>
                </a:solidFill>
                <a:latin typeface="Aptos Display"/>
                <a:ea typeface="Aptos Display"/>
              </a:rPr>
              <a:t>like maintenance,</a:t>
            </a:r>
            <a:endParaRPr lang="sk" sz="3500" b="0" u="none" strike="noStrike">
              <a:solidFill>
                <a:srgbClr val="FFFFFF"/>
              </a:solidFill>
              <a:latin typeface="Calibri"/>
            </a:endParaRPr>
          </a:p>
          <a:p>
            <a:pPr defTabSz="914400">
              <a:lnSpc>
                <a:spcPct val="100000"/>
              </a:lnSpc>
              <a:tabLst>
                <a:tab pos="0" algn="l"/>
              </a:tabLst>
              <a:defRPr/>
            </a:pPr>
            <a:r>
              <a:rPr lang="en-US" sz="3500" b="1" u="none" strike="noStrike">
                <a:solidFill>
                  <a:srgbClr val="FFFFFF"/>
                </a:solidFill>
                <a:latin typeface="Aptos Display"/>
                <a:ea typeface="Aptos Display"/>
              </a:rPr>
              <a:t>not drama.</a:t>
            </a:r>
            <a:endParaRPr lang="sk" sz="3500" b="0" u="none" strike="noStrike">
              <a:solidFill>
                <a:srgbClr val="FFFFFF"/>
              </a:solidFill>
              <a:latin typeface="Calibri"/>
            </a:endParaRPr>
          </a:p>
        </p:txBody>
      </p:sp>
      <p:sp>
        <p:nvSpPr>
          <p:cNvPr id="1541176330" name="Text 6"/>
          <p:cNvSpPr/>
          <p:nvPr/>
        </p:nvSpPr>
        <p:spPr bwMode="auto">
          <a:xfrm>
            <a:off x="585360" y="5275798"/>
            <a:ext cx="4388760" cy="511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defRPr/>
            </a:pPr>
            <a:r>
              <a:rPr lang="en-US" sz="1400" b="0" u="none" strike="noStrike">
                <a:solidFill>
                  <a:srgbClr val="B9CBDA"/>
                </a:solidFill>
                <a:latin typeface="Aptos"/>
                <a:ea typeface="Aptos"/>
              </a:rPr>
              <a:t>Snap auto refreshes, testing and snapshots turn routine upgrades into a predictable operating model.</a:t>
            </a:r>
            <a:endParaRPr lang="sk" sz="1400" b="0" u="none" strike="noStrike">
              <a:solidFill>
                <a:srgbClr val="FFFFFF"/>
              </a:solidFill>
              <a:latin typeface="Calibri"/>
            </a:endParaRPr>
          </a:p>
        </p:txBody>
      </p:sp>
      <p:sp>
        <p:nvSpPr>
          <p:cNvPr id="279666421" name="Shape 7"/>
          <p:cNvSpPr/>
          <p:nvPr/>
        </p:nvSpPr>
        <p:spPr bwMode="auto">
          <a:xfrm>
            <a:off x="6446520" y="1316880"/>
            <a:ext cx="1965600" cy="676440"/>
          </a:xfrm>
          <a:prstGeom prst="roundRect">
            <a:avLst>
              <a:gd name="adj" fmla="val 18919"/>
            </a:avLst>
          </a:prstGeom>
          <a:solidFill>
            <a:srgbClr val="051724">
              <a:alpha val="97000"/>
            </a:srgbClr>
          </a:solidFill>
          <a:ln w="12700">
            <a:solidFill>
              <a:srgbClr val="30D6FF">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815950700" name="Text 8"/>
          <p:cNvSpPr/>
          <p:nvPr/>
        </p:nvSpPr>
        <p:spPr bwMode="auto">
          <a:xfrm>
            <a:off x="6574680" y="1435680"/>
            <a:ext cx="6764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150" b="1" u="none" strike="noStrike">
                <a:solidFill>
                  <a:srgbClr val="30D6FF"/>
                </a:solidFill>
                <a:latin typeface="Aptos"/>
              </a:rPr>
              <a:t>Test</a:t>
            </a:r>
            <a:endParaRPr lang="sk" sz="1150" b="0" u="none" strike="noStrike">
              <a:solidFill>
                <a:srgbClr val="FFFFFF"/>
              </a:solidFill>
              <a:latin typeface="Calibri"/>
            </a:endParaRPr>
          </a:p>
        </p:txBody>
      </p:sp>
      <p:sp>
        <p:nvSpPr>
          <p:cNvPr id="146430588" name="Text 9"/>
          <p:cNvSpPr/>
          <p:nvPr/>
        </p:nvSpPr>
        <p:spPr bwMode="auto">
          <a:xfrm>
            <a:off x="7196400" y="1682640"/>
            <a:ext cx="1023840" cy="18252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defRPr/>
            </a:pPr>
            <a:r>
              <a:rPr lang="en-US" sz="750" b="0" u="none" strike="noStrike">
                <a:solidFill>
                  <a:srgbClr val="B9CBDA"/>
                </a:solidFill>
                <a:latin typeface="Aptos"/>
              </a:rPr>
              <a:t>fresh installs &amp; upgrade paths</a:t>
            </a:r>
            <a:endParaRPr lang="sk" sz="750" b="0" u="none" strike="noStrike">
              <a:solidFill>
                <a:srgbClr val="FFFFFF"/>
              </a:solidFill>
              <a:latin typeface="Calibri"/>
            </a:endParaRPr>
          </a:p>
        </p:txBody>
      </p:sp>
      <p:sp>
        <p:nvSpPr>
          <p:cNvPr id="325695064" name="Shape 10"/>
          <p:cNvSpPr/>
          <p:nvPr/>
        </p:nvSpPr>
        <p:spPr bwMode="auto">
          <a:xfrm>
            <a:off x="8942760" y="2541960"/>
            <a:ext cx="1965600" cy="676440"/>
          </a:xfrm>
          <a:prstGeom prst="roundRect">
            <a:avLst>
              <a:gd name="adj" fmla="val 18919"/>
            </a:avLst>
          </a:prstGeom>
          <a:solidFill>
            <a:srgbClr val="051724">
              <a:alpha val="97000"/>
            </a:srgbClr>
          </a:solidFill>
          <a:ln w="12700">
            <a:solidFill>
              <a:srgbClr val="FF8A2A">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461349659" name="Text 11"/>
          <p:cNvSpPr/>
          <p:nvPr/>
        </p:nvSpPr>
        <p:spPr bwMode="auto">
          <a:xfrm>
            <a:off x="9070920" y="2660760"/>
            <a:ext cx="6764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150" b="1" u="none" strike="noStrike">
                <a:solidFill>
                  <a:srgbClr val="FF8A2A"/>
                </a:solidFill>
                <a:latin typeface="Aptos"/>
              </a:rPr>
              <a:t>Refresh</a:t>
            </a:r>
            <a:endParaRPr lang="sk" sz="1150" b="0" u="none" strike="noStrike">
              <a:solidFill>
                <a:srgbClr val="FFFFFF"/>
              </a:solidFill>
              <a:latin typeface="Calibri"/>
            </a:endParaRPr>
          </a:p>
        </p:txBody>
      </p:sp>
      <p:sp>
        <p:nvSpPr>
          <p:cNvPr id="454470944" name="Text 12"/>
          <p:cNvSpPr/>
          <p:nvPr/>
        </p:nvSpPr>
        <p:spPr bwMode="auto">
          <a:xfrm>
            <a:off x="9692640" y="2907720"/>
            <a:ext cx="1023840" cy="182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defRPr/>
            </a:pPr>
            <a:r>
              <a:rPr lang="en-US" sz="750" b="0" u="none" strike="noStrike">
                <a:solidFill>
                  <a:srgbClr val="B9CBDA"/>
                </a:solidFill>
                <a:latin typeface="Aptos"/>
              </a:rPr>
              <a:t>automatic by default</a:t>
            </a:r>
            <a:endParaRPr lang="sk" sz="750" b="0" u="none" strike="noStrike">
              <a:solidFill>
                <a:srgbClr val="FFFFFF"/>
              </a:solidFill>
              <a:latin typeface="Calibri"/>
            </a:endParaRPr>
          </a:p>
        </p:txBody>
      </p:sp>
      <p:sp>
        <p:nvSpPr>
          <p:cNvPr id="1513538687" name="Shape 13"/>
          <p:cNvSpPr/>
          <p:nvPr/>
        </p:nvSpPr>
        <p:spPr bwMode="auto">
          <a:xfrm>
            <a:off x="8942760" y="4224600"/>
            <a:ext cx="1965600" cy="676440"/>
          </a:xfrm>
          <a:prstGeom prst="roundRect">
            <a:avLst>
              <a:gd name="adj" fmla="val 18919"/>
            </a:avLst>
          </a:prstGeom>
          <a:solidFill>
            <a:srgbClr val="051724">
              <a:alpha val="97000"/>
            </a:srgbClr>
          </a:solidFill>
          <a:ln w="12700">
            <a:solidFill>
              <a:srgbClr val="795CFF">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33134725" name="Text 14"/>
          <p:cNvSpPr/>
          <p:nvPr/>
        </p:nvSpPr>
        <p:spPr bwMode="auto">
          <a:xfrm>
            <a:off x="9070920" y="4343400"/>
            <a:ext cx="6764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150" b="1" u="none" strike="noStrike">
                <a:solidFill>
                  <a:srgbClr val="795CFF"/>
                </a:solidFill>
                <a:latin typeface="Aptos"/>
              </a:rPr>
              <a:t>Control</a:t>
            </a:r>
            <a:endParaRPr lang="sk" sz="1150" b="0" u="none" strike="noStrike">
              <a:solidFill>
                <a:srgbClr val="FFFFFF"/>
              </a:solidFill>
              <a:latin typeface="Calibri"/>
            </a:endParaRPr>
          </a:p>
        </p:txBody>
      </p:sp>
      <p:sp>
        <p:nvSpPr>
          <p:cNvPr id="1461147429" name="Text 15"/>
          <p:cNvSpPr/>
          <p:nvPr/>
        </p:nvSpPr>
        <p:spPr bwMode="auto">
          <a:xfrm>
            <a:off x="9692640" y="4590360"/>
            <a:ext cx="1023840" cy="182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defRPr/>
            </a:pPr>
            <a:r>
              <a:rPr lang="en-US" sz="750" b="0" u="none" strike="noStrike">
                <a:solidFill>
                  <a:srgbClr val="B9CBDA"/>
                </a:solidFill>
                <a:latin typeface="Aptos"/>
              </a:rPr>
              <a:t>timing is configurable</a:t>
            </a:r>
            <a:endParaRPr lang="sk" sz="750" b="0" u="none" strike="noStrike">
              <a:solidFill>
                <a:srgbClr val="FFFFFF"/>
              </a:solidFill>
              <a:latin typeface="Calibri"/>
            </a:endParaRPr>
          </a:p>
        </p:txBody>
      </p:sp>
      <p:sp>
        <p:nvSpPr>
          <p:cNvPr id="1505189497" name="Shape 16"/>
          <p:cNvSpPr/>
          <p:nvPr/>
        </p:nvSpPr>
        <p:spPr bwMode="auto">
          <a:xfrm>
            <a:off x="6446520" y="4727520"/>
            <a:ext cx="1965600" cy="676440"/>
          </a:xfrm>
          <a:prstGeom prst="roundRect">
            <a:avLst>
              <a:gd name="adj" fmla="val 18919"/>
            </a:avLst>
          </a:prstGeom>
          <a:solidFill>
            <a:srgbClr val="051724">
              <a:alpha val="97000"/>
            </a:srgbClr>
          </a:solidFill>
          <a:ln w="12700">
            <a:solidFill>
              <a:srgbClr val="52E2A8">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147884351" name="Text 17"/>
          <p:cNvSpPr/>
          <p:nvPr/>
        </p:nvSpPr>
        <p:spPr bwMode="auto">
          <a:xfrm>
            <a:off x="6574680" y="4846320"/>
            <a:ext cx="6764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150" b="1" u="none" strike="noStrike">
                <a:solidFill>
                  <a:srgbClr val="52E2A8"/>
                </a:solidFill>
                <a:latin typeface="Aptos"/>
              </a:rPr>
              <a:t>Recover</a:t>
            </a:r>
            <a:endParaRPr lang="sk" sz="1150" b="0" u="none" strike="noStrike">
              <a:solidFill>
                <a:srgbClr val="FFFFFF"/>
              </a:solidFill>
              <a:latin typeface="Calibri"/>
            </a:endParaRPr>
          </a:p>
        </p:txBody>
      </p:sp>
      <p:sp>
        <p:nvSpPr>
          <p:cNvPr id="1608229996" name="Text 18"/>
          <p:cNvSpPr/>
          <p:nvPr/>
        </p:nvSpPr>
        <p:spPr bwMode="auto">
          <a:xfrm>
            <a:off x="7196400" y="5093280"/>
            <a:ext cx="1023840" cy="182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defRPr/>
            </a:pPr>
            <a:r>
              <a:rPr lang="en-US" sz="750" b="0" u="none" strike="noStrike">
                <a:solidFill>
                  <a:srgbClr val="B9CBDA"/>
                </a:solidFill>
                <a:latin typeface="Aptos"/>
              </a:rPr>
              <a:t>snapshots &amp; backups</a:t>
            </a:r>
            <a:endParaRPr lang="sk" sz="750" b="0" u="none" strike="noStrike">
              <a:solidFill>
                <a:srgbClr val="FFFFFF"/>
              </a:solidFill>
              <a:latin typeface="Calibri"/>
            </a:endParaRPr>
          </a:p>
        </p:txBody>
      </p:sp>
      <p:sp>
        <p:nvSpPr>
          <p:cNvPr id="398658415" name="Rectangle 25"/>
          <p:cNvSpPr/>
          <p:nvPr/>
        </p:nvSpPr>
        <p:spPr bwMode="auto">
          <a:xfrm>
            <a:off x="502920" y="6336720"/>
            <a:ext cx="1234080" cy="31680"/>
          </a:xfrm>
          <a:prstGeom prst="rect">
            <a:avLst/>
          </a:prstGeom>
          <a:solidFill>
            <a:srgbClr val="0082C9"/>
          </a:solidFill>
          <a:ln>
            <a:noFill/>
          </a:ln>
        </p:spPr>
        <p:style>
          <a:lnRef idx="1">
            <a:schemeClr val="accent1"/>
          </a:lnRef>
          <a:fillRef idx="3">
            <a:schemeClr val="accent1"/>
          </a:fillRef>
          <a:effectRef idx="2">
            <a:schemeClr val="accent1"/>
          </a:effectRef>
          <a:fontRef idx="minor"/>
        </p:style>
        <p:txBody>
          <a:bodyPr lIns="90000" tIns="-12960" rIns="90000" bIns="-12960" anchor="ctr">
            <a:noAutofit/>
          </a:bodyPr>
          <a:p>
            <a:pPr>
              <a:defRPr/>
            </a:pPr>
            <a:endParaRPr lang="sk" sz="1800" b="0" u="none" strike="noStrike">
              <a:solidFill>
                <a:schemeClr val="lt1"/>
              </a:solidFill>
              <a:latin typeface="Aptos"/>
            </a:endParaRPr>
          </a:p>
        </p:txBody>
      </p:sp>
      <p:sp>
        <p:nvSpPr>
          <p:cNvPr id="737630467" name="Rounded Rectangle 14"/>
          <p:cNvSpPr/>
          <p:nvPr/>
        </p:nvSpPr>
        <p:spPr bwMode="auto">
          <a:xfrm>
            <a:off x="585360" y="356760"/>
            <a:ext cx="4429800" cy="652680"/>
          </a:xfrm>
          <a:prstGeom prst="roundRect">
            <a:avLst>
              <a:gd name="adj" fmla="val 16667"/>
            </a:avLst>
          </a:prstGeom>
          <a:solidFill>
            <a:srgbClr val="000000"/>
          </a:solidFill>
          <a:ln>
            <a:solidFill>
              <a:srgbClr val="0082C9"/>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defRPr/>
            </a:pPr>
            <a:endParaRPr lang="sk" sz="1800" b="0" u="none" strike="noStrike">
              <a:solidFill>
                <a:schemeClr val="lt1"/>
              </a:solidFill>
              <a:latin typeface="Aptos"/>
            </a:endParaRPr>
          </a:p>
        </p:txBody>
      </p:sp>
      <p:pic>
        <p:nvPicPr>
          <p:cNvPr id="326573981" name="Picture 15" descr="nextcloud_icon_white.png"/>
          <p:cNvPicPr/>
          <p:nvPr/>
        </p:nvPicPr>
        <p:blipFill rotWithShape="1">
          <a:blip r:embed="rId4"/>
          <a:stretch/>
        </p:blipFill>
        <p:spPr bwMode="auto">
          <a:xfrm>
            <a:off x="694800" y="420480"/>
            <a:ext cx="882360" cy="434880"/>
          </a:xfrm>
          <a:prstGeom prst="rect">
            <a:avLst/>
          </a:prstGeom>
          <a:noFill/>
          <a:ln w="0">
            <a:noFill/>
          </a:ln>
        </p:spPr>
      </p:pic>
      <p:sp>
        <p:nvSpPr>
          <p:cNvPr id="1835167127" name="TextBox 16"/>
          <p:cNvSpPr/>
          <p:nvPr/>
        </p:nvSpPr>
        <p:spPr bwMode="auto">
          <a:xfrm flipH="0" flipV="0">
            <a:off x="1549800" y="412920"/>
            <a:ext cx="2084844" cy="425639"/>
          </a:xfrm>
          <a:prstGeom prst="rect">
            <a:avLst/>
          </a:prstGeom>
          <a:noFill/>
          <a:ln w="0">
            <a:noFill/>
          </a:ln>
        </p:spPr>
        <p:style>
          <a:lnRef idx="0"/>
          <a:fillRef idx="0"/>
          <a:effectRef idx="0"/>
          <a:fontRef idx="minor"/>
        </p:style>
        <p:txBody>
          <a:bodyPr wrap="square" lIns="90000" tIns="45000" rIns="90000" bIns="45000" anchor="t">
            <a:spAutoFit/>
          </a:bodyPr>
          <a:p>
            <a:pPr defTabSz="914400">
              <a:lnSpc>
                <a:spcPct val="100000"/>
              </a:lnSpc>
              <a:defRPr/>
            </a:pPr>
            <a:r>
              <a:rPr lang="sk" sz="2200" b="1" u="none" strike="noStrike">
                <a:solidFill>
                  <a:srgbClr val="FFFFFF"/>
                </a:solidFill>
                <a:latin typeface="Aptos"/>
              </a:rPr>
              <a:t>Nextcloud</a:t>
            </a:r>
            <a:endParaRPr lang="sk" sz="2200" b="0" u="none" strike="noStrike">
              <a:solidFill>
                <a:srgbClr val="FFFFFF"/>
              </a:solidFill>
              <a:latin typeface="Calibri"/>
            </a:endParaRPr>
          </a:p>
        </p:txBody>
      </p:sp>
      <p:sp>
        <p:nvSpPr>
          <p:cNvPr id="1419035228" name="Rounded Rectangle 17"/>
          <p:cNvSpPr/>
          <p:nvPr/>
        </p:nvSpPr>
        <p:spPr bwMode="auto">
          <a:xfrm>
            <a:off x="4037040" y="443880"/>
            <a:ext cx="745920" cy="341640"/>
          </a:xfrm>
          <a:prstGeom prst="roundRect">
            <a:avLst>
              <a:gd name="adj" fmla="val 16667"/>
            </a:avLst>
          </a:prstGeom>
          <a:solidFill>
            <a:srgbClr val="0082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914400">
              <a:lnSpc>
                <a:spcPct val="100000"/>
              </a:lnSpc>
              <a:defRPr/>
            </a:pPr>
            <a:r>
              <a:rPr lang="sk" sz="1100" b="1" u="none" strike="noStrike">
                <a:solidFill>
                  <a:srgbClr val="FFFFFF"/>
                </a:solidFill>
                <a:latin typeface="Aptos"/>
              </a:rPr>
              <a:t>SNAP</a:t>
            </a:r>
            <a:endParaRPr lang="sk" sz="1100" b="0" u="none" strike="noStrike">
              <a:solidFill>
                <a:srgbClr val="FFFFFF"/>
              </a:solidFill>
              <a:latin typeface="Calibri"/>
            </a:endParaRPr>
          </a:p>
        </p:txBody>
      </p:sp>
      <p:sp>
        <p:nvSpPr>
          <p:cNvPr id="287273500" name=""/>
          <p:cNvSpPr txBox="1"/>
          <p:nvPr/>
        </p:nvSpPr>
        <p:spPr bwMode="auto">
          <a:xfrm rot="0" flipH="0" flipV="0">
            <a:off x="5248435" y="2533366"/>
            <a:ext cx="3850875" cy="1890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05908" indent="-305908">
              <a:buFont typeface="Arial"/>
              <a:buChar char="•"/>
              <a:defRPr/>
            </a:pPr>
            <a:r>
              <a:rPr lang="en-GB" sz="1800" b="0" i="0" u="none" strike="noStrike" cap="none" spc="0">
                <a:solidFill>
                  <a:schemeClr val="bg1"/>
                </a:solidFill>
                <a:latin typeface="Ubuntu"/>
                <a:ea typeface="Ubuntu"/>
                <a:cs typeface="Ubuntu"/>
              </a:rPr>
              <a:t>customisable</a:t>
            </a:r>
            <a:r>
              <a:rPr lang="en-GB" sz="1800" b="0" i="0" u="none" strike="noStrike" cap="none" spc="0">
                <a:solidFill>
                  <a:schemeClr val="bg1"/>
                </a:solidFill>
                <a:latin typeface="Ubuntu"/>
                <a:ea typeface="Ubuntu"/>
                <a:cs typeface="Ubuntu"/>
              </a:rPr>
              <a:t> updates</a:t>
            </a:r>
            <a:endParaRPr lang="en-GB" sz="1800" b="0" i="0" u="none" strike="noStrike" cap="none" spc="0">
              <a:solidFill>
                <a:schemeClr val="bg1"/>
              </a:solidFill>
              <a:latin typeface="Ubuntu"/>
              <a:ea typeface="Ubuntu"/>
              <a:cs typeface="Ubuntu"/>
            </a:endParaRPr>
          </a:p>
          <a:p>
            <a:pPr marL="305907" indent="-305907">
              <a:buFont typeface="Arial"/>
              <a:buChar char="•"/>
              <a:defRPr/>
            </a:pPr>
            <a:r>
              <a:rPr lang="en-GB" sz="1800" b="0" i="0" u="none" strike="noStrike" cap="none" spc="0">
                <a:solidFill>
                  <a:schemeClr val="bg1"/>
                </a:solidFill>
                <a:latin typeface="Ubuntu"/>
                <a:ea typeface="Ubuntu"/>
                <a:cs typeface="Ubuntu"/>
              </a:rPr>
              <a:t>automatic snap refresh</a:t>
            </a:r>
            <a:endParaRPr sz="1800" b="0" i="0" u="none" strike="noStrike" cap="none" spc="0">
              <a:solidFill>
                <a:schemeClr val="bg1"/>
              </a:solidFill>
              <a:latin typeface="Ubuntu"/>
              <a:ea typeface="Ubuntu"/>
              <a:cs typeface="Ubuntu"/>
            </a:endParaRPr>
          </a:p>
          <a:p>
            <a:pPr marL="305908" indent="-305908">
              <a:buFont typeface="Arial"/>
              <a:buChar char="•"/>
              <a:defRPr/>
            </a:pPr>
            <a:r>
              <a:rPr lang="en-GB" sz="1800" b="0" i="0" u="none" strike="noStrike" cap="none" spc="0">
                <a:solidFill>
                  <a:schemeClr val="bg1"/>
                </a:solidFill>
                <a:latin typeface="Ubuntu"/>
                <a:ea typeface="Ubuntu"/>
                <a:cs typeface="Ubuntu"/>
              </a:rPr>
              <a:t>automatic snapshots</a:t>
            </a:r>
            <a:endParaRPr sz="1800" b="0" i="0" u="none" strike="noStrike" cap="none" spc="0">
              <a:solidFill>
                <a:schemeClr val="bg1"/>
              </a:solidFill>
              <a:latin typeface="Ubuntu"/>
              <a:ea typeface="Ubuntu"/>
              <a:cs typeface="Ubuntu"/>
            </a:endParaRPr>
          </a:p>
          <a:p>
            <a:pPr marL="305908" indent="-305908">
              <a:buFont typeface="Arial"/>
              <a:buChar char="•"/>
              <a:defRPr/>
            </a:pPr>
            <a:r>
              <a:rPr lang="en-GB" sz="1800" b="0" i="0" u="none" strike="noStrike" cap="none" spc="0">
                <a:solidFill>
                  <a:schemeClr val="bg1"/>
                </a:solidFill>
                <a:latin typeface="Ubuntu"/>
                <a:ea typeface="Ubuntu"/>
                <a:cs typeface="Ubuntu"/>
              </a:rPr>
              <a:t>scheduled snapshots</a:t>
            </a:r>
            <a:endParaRPr sz="1800" b="0" i="0" u="none" strike="noStrike" cap="none" spc="0">
              <a:solidFill>
                <a:schemeClr val="bg1"/>
              </a:solidFill>
              <a:latin typeface="Ubuntu"/>
              <a:ea typeface="Ubuntu"/>
              <a:cs typeface="Ubuntu"/>
            </a:endParaRPr>
          </a:p>
          <a:p>
            <a:pPr marL="305907" indent="-305907">
              <a:buFont typeface="Arial"/>
              <a:buChar char="•"/>
              <a:defRPr/>
            </a:pPr>
            <a:r>
              <a:rPr sz="1800" b="0" i="0" u="none" strike="noStrike" cap="none" spc="0">
                <a:solidFill>
                  <a:schemeClr val="bg1"/>
                </a:solidFill>
                <a:latin typeface="Ubuntu"/>
                <a:ea typeface="Ubuntu"/>
                <a:cs typeface="Ubuntu"/>
              </a:rPr>
              <a:t>scheduled backup</a:t>
            </a:r>
            <a:endParaRPr sz="1800" b="0" i="0" u="none" strike="noStrike" cap="none" spc="0">
              <a:solidFill>
                <a:schemeClr val="bg1"/>
              </a:solidFill>
              <a:latin typeface="Ubuntu"/>
              <a:ea typeface="Ubuntu"/>
              <a:cs typeface="Ubuntu"/>
            </a:endParaRPr>
          </a:p>
          <a:p>
            <a:pPr marL="305908" indent="-305908">
              <a:buFont typeface="Arial"/>
              <a:buChar char="•"/>
              <a:defRPr/>
            </a:pPr>
            <a:r>
              <a:rPr lang="en-GB" sz="1800" b="0" i="0" u="none" strike="noStrike" cap="none" spc="0">
                <a:solidFill>
                  <a:schemeClr val="bg1"/>
                </a:solidFill>
                <a:latin typeface="Ubuntu"/>
                <a:ea typeface="Ubuntu"/>
                <a:cs typeface="Ubuntu"/>
              </a:rPr>
              <a:t>revert, recover</a:t>
            </a:r>
            <a:r>
              <a:rPr lang="en-GB" sz="1800" b="0" i="0" u="none" strike="noStrike" cap="none" spc="0">
                <a:solidFill>
                  <a:schemeClr val="bg1"/>
                </a:solidFill>
                <a:latin typeface="Ubuntu"/>
                <a:ea typeface="Ubuntu"/>
                <a:cs typeface="Ubuntu"/>
              </a:rPr>
              <a:t> </a:t>
            </a:r>
            <a:r>
              <a:rPr lang="en-GB" sz="1800" b="0" i="0" u="none" strike="noStrike" cap="none" spc="0">
                <a:solidFill>
                  <a:schemeClr val="bg1"/>
                </a:solidFill>
                <a:latin typeface="Ubuntu"/>
                <a:ea typeface="Ubuntu"/>
                <a:cs typeface="Ubuntu"/>
              </a:rPr>
              <a:t>&amp; migrate</a:t>
            </a:r>
            <a:endParaRPr lang="en-GB" sz="2000" b="0" i="0" u="none" strike="noStrike" cap="none" spc="0">
              <a:solidFill>
                <a:schemeClr val="bg1"/>
              </a:solidFill>
              <a:latin typeface="Ubuntu"/>
              <a:ea typeface="Ubuntu"/>
              <a:cs typeface="Ubuntu"/>
            </a:endParaRPr>
          </a:p>
          <a:p>
            <a:pPr marL="305908" indent="-305908">
              <a:buFont typeface="Arial"/>
              <a:buChar cha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6111F"/>
        </a:solidFill>
      </p:bgPr>
    </p:bg>
    <p:spTree>
      <p:nvGrpSpPr>
        <p:cNvPr id="1" name=""/>
        <p:cNvGrpSpPr/>
        <p:nvPr/>
      </p:nvGrpSpPr>
      <p:grpSpPr bwMode="auto">
        <a:xfrm>
          <a:off x="0" y="0"/>
          <a:ext cx="0" cy="0"/>
          <a:chOff x="0" y="0"/>
          <a:chExt cx="0" cy="0"/>
        </a:xfrm>
      </p:grpSpPr>
      <p:pic>
        <p:nvPicPr>
          <p:cNvPr id="223577861" name="Image 0" descr="/mnt/data/bg_fit_dark.png"/>
          <p:cNvPicPr/>
          <p:nvPr/>
        </p:nvPicPr>
        <p:blipFill rotWithShape="1">
          <a:blip r:embed="rId3"/>
          <a:stretch/>
        </p:blipFill>
        <p:spPr bwMode="auto">
          <a:xfrm>
            <a:off x="7919" y="-45539"/>
            <a:ext cx="12191400" cy="6857640"/>
          </a:xfrm>
          <a:prstGeom prst="rect">
            <a:avLst/>
          </a:prstGeom>
          <a:noFill/>
          <a:ln w="0">
            <a:noFill/>
          </a:ln>
        </p:spPr>
      </p:pic>
      <p:sp>
        <p:nvSpPr>
          <p:cNvPr id="2129948284" name="Text 1"/>
          <p:cNvSpPr/>
          <p:nvPr/>
        </p:nvSpPr>
        <p:spPr bwMode="auto">
          <a:xfrm>
            <a:off x="11292840" y="255960"/>
            <a:ext cx="36540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defRPr/>
            </a:pPr>
            <a:r>
              <a:rPr lang="en-US" sz="800" b="1" u="none" strike="noStrike">
                <a:solidFill>
                  <a:srgbClr val="B9CBDA"/>
                </a:solidFill>
                <a:latin typeface="Aptos"/>
                <a:ea typeface="Aptos"/>
              </a:rPr>
              <a:t>06</a:t>
            </a:r>
            <a:endParaRPr lang="sk" sz="800" b="0" u="none" strike="noStrike">
              <a:solidFill>
                <a:srgbClr val="FFFFFF"/>
              </a:solidFill>
              <a:latin typeface="Calibri"/>
            </a:endParaRPr>
          </a:p>
        </p:txBody>
      </p:sp>
      <p:sp>
        <p:nvSpPr>
          <p:cNvPr id="1651741319" name="Shape 2"/>
          <p:cNvSpPr/>
          <p:nvPr/>
        </p:nvSpPr>
        <p:spPr bwMode="auto">
          <a:xfrm>
            <a:off x="502920" y="566640"/>
            <a:ext cx="11201400" cy="360"/>
          </a:xfrm>
          <a:prstGeom prst="line">
            <a:avLst/>
          </a:prstGeom>
          <a:ln w="8890">
            <a:solidFill>
              <a:srgbClr val="31536B">
                <a:alpha val="65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233584222" name="Text 5"/>
          <p:cNvSpPr/>
          <p:nvPr/>
        </p:nvSpPr>
        <p:spPr bwMode="auto">
          <a:xfrm>
            <a:off x="658440" y="1936967"/>
            <a:ext cx="4388760" cy="959760"/>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ctr" anchorCtr="0" forceAA="0" upright="0" compatLnSpc="0">
            <a:normAutofit fontScale="95000" lnSpcReduction="1000"/>
          </a:bodyPr>
          <a:p>
            <a:pPr defTabSz="914400">
              <a:lnSpc>
                <a:spcPct val="100000"/>
              </a:lnSpc>
              <a:tabLst>
                <a:tab pos="0" algn="l"/>
              </a:tabLst>
              <a:defRPr/>
            </a:pPr>
            <a:r>
              <a:rPr lang="en-US" sz="3600" b="1" u="none" strike="noStrike">
                <a:solidFill>
                  <a:srgbClr val="FFFFFF"/>
                </a:solidFill>
                <a:latin typeface="Aptos Display"/>
                <a:ea typeface="Aptos Display"/>
              </a:rPr>
              <a:t>Who is the snap for?</a:t>
            </a:r>
            <a:endParaRPr lang="sk" sz="3600" b="0" u="none" strike="noStrike">
              <a:solidFill>
                <a:srgbClr val="FFFFFF"/>
              </a:solidFill>
              <a:latin typeface="Calibri"/>
            </a:endParaRPr>
          </a:p>
        </p:txBody>
      </p:sp>
      <p:sp>
        <p:nvSpPr>
          <p:cNvPr id="1125942958" name="Shape 6"/>
          <p:cNvSpPr/>
          <p:nvPr/>
        </p:nvSpPr>
        <p:spPr bwMode="auto">
          <a:xfrm>
            <a:off x="713160" y="3127320"/>
            <a:ext cx="3565800" cy="1170000"/>
          </a:xfrm>
          <a:prstGeom prst="roundRect">
            <a:avLst>
              <a:gd name="adj" fmla="val 12500"/>
            </a:avLst>
          </a:prstGeom>
          <a:solidFill>
            <a:srgbClr val="F8FCFF">
              <a:alpha val="95000"/>
            </a:srgbClr>
          </a:solidFill>
          <a:ln w="12700">
            <a:solidFill>
              <a:srgbClr val="52E2A8">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706010747" name="Text 7"/>
          <p:cNvSpPr/>
          <p:nvPr/>
        </p:nvSpPr>
        <p:spPr bwMode="auto">
          <a:xfrm>
            <a:off x="932760" y="3383280"/>
            <a:ext cx="15084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700" b="1" u="none" strike="noStrike">
                <a:solidFill>
                  <a:srgbClr val="06111F"/>
                </a:solidFill>
                <a:latin typeface="Aptos"/>
              </a:rPr>
              <a:t>Great fit</a:t>
            </a:r>
            <a:endParaRPr lang="sk" sz="1700" b="0" u="none" strike="noStrike">
              <a:solidFill>
                <a:srgbClr val="FFFFFF"/>
              </a:solidFill>
              <a:latin typeface="Calibri"/>
            </a:endParaRPr>
          </a:p>
        </p:txBody>
      </p:sp>
      <p:sp>
        <p:nvSpPr>
          <p:cNvPr id="2003408787" name="Text 8"/>
          <p:cNvSpPr/>
          <p:nvPr/>
        </p:nvSpPr>
        <p:spPr bwMode="auto">
          <a:xfrm flipH="0" flipV="0">
            <a:off x="932760" y="3712320"/>
            <a:ext cx="3104279" cy="319929"/>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ctr" anchorCtr="0" forceAA="0" upright="0" compatLnSpc="0">
            <a:normAutofit fontScale="90000" lnSpcReduction="2000"/>
          </a:bodyPr>
          <a:p>
            <a:pPr defTabSz="914400">
              <a:lnSpc>
                <a:spcPct val="100000"/>
              </a:lnSpc>
              <a:tabLst>
                <a:tab pos="0" algn="l"/>
              </a:tabLst>
              <a:defRPr/>
            </a:pPr>
            <a:r>
              <a:rPr lang="en-US" sz="950" b="0" u="none" strike="noStrike">
                <a:solidFill>
                  <a:srgbClr val="173A4F"/>
                </a:solidFill>
                <a:latin typeface="Aptos"/>
              </a:rPr>
              <a:t>Personal - family servers · team servers </a:t>
            </a:r>
            <a:r>
              <a:rPr lang="en-US" sz="1000" b="0" i="0" u="none" strike="noStrike" cap="none" spc="0">
                <a:solidFill>
                  <a:srgbClr val="173A4F"/>
                </a:solidFill>
                <a:latin typeface="Aptos"/>
                <a:ea typeface="Aptos"/>
                <a:cs typeface="Aptos"/>
              </a:rPr>
              <a:t>·</a:t>
            </a:r>
            <a:r>
              <a:rPr lang="en-US" sz="950" b="0" u="none" strike="noStrike">
                <a:solidFill>
                  <a:srgbClr val="173A4F"/>
                </a:solidFill>
                <a:latin typeface="Aptos"/>
              </a:rPr>
              <a:t> </a:t>
            </a:r>
            <a:r>
              <a:rPr lang="en-US" sz="1000" b="0" i="0" u="none" strike="noStrike" cap="none" spc="0">
                <a:solidFill>
                  <a:srgbClr val="173A4F"/>
                </a:solidFill>
                <a:latin typeface="Aptos"/>
                <a:ea typeface="Aptos"/>
                <a:cs typeface="Aptos"/>
              </a:rPr>
              <a:t>small businesses</a:t>
            </a:r>
            <a:r>
              <a:rPr lang="en-US" sz="1000" b="0" i="0" u="none" strike="noStrike" cap="none" spc="0">
                <a:solidFill>
                  <a:srgbClr val="173A4F"/>
                </a:solidFill>
                <a:latin typeface="Aptos"/>
                <a:ea typeface="Aptos"/>
                <a:cs typeface="Aptos"/>
              </a:rPr>
              <a:t> </a:t>
            </a:r>
            <a:r>
              <a:rPr lang="en-US" sz="1000" b="0" i="0" u="none" strike="noStrike" cap="none" spc="0">
                <a:solidFill>
                  <a:srgbClr val="173A4F"/>
                </a:solidFill>
                <a:latin typeface="Aptos"/>
                <a:ea typeface="Aptos"/>
                <a:cs typeface="Aptos"/>
              </a:rPr>
              <a:t>·</a:t>
            </a:r>
            <a:r>
              <a:rPr lang="en-US" sz="1000" b="0" i="0" u="none" strike="noStrike" cap="none" spc="0">
                <a:solidFill>
                  <a:srgbClr val="173A4F"/>
                </a:solidFill>
                <a:latin typeface="Aptos"/>
                <a:ea typeface="Aptos"/>
                <a:cs typeface="Aptos"/>
              </a:rPr>
              <a:t> </a:t>
            </a:r>
            <a:r>
              <a:rPr lang="en-US" sz="950" b="0" u="none" strike="noStrike">
                <a:solidFill>
                  <a:srgbClr val="173A4F"/>
                </a:solidFill>
                <a:latin typeface="Aptos"/>
              </a:rPr>
              <a:t>labs · IoT/edge · demos · low-maintenance instances.</a:t>
            </a:r>
            <a:endParaRPr lang="sk" sz="950" b="0" u="none" strike="noStrike">
              <a:solidFill>
                <a:srgbClr val="FFFFFF"/>
              </a:solidFill>
              <a:latin typeface="Calibri"/>
            </a:endParaRPr>
          </a:p>
        </p:txBody>
      </p:sp>
      <p:sp>
        <p:nvSpPr>
          <p:cNvPr id="983862977" name="Shape 9"/>
          <p:cNvSpPr/>
          <p:nvPr/>
        </p:nvSpPr>
        <p:spPr bwMode="auto">
          <a:xfrm>
            <a:off x="713160" y="4617720"/>
            <a:ext cx="3565800" cy="1170000"/>
          </a:xfrm>
          <a:prstGeom prst="roundRect">
            <a:avLst>
              <a:gd name="adj" fmla="val 12500"/>
            </a:avLst>
          </a:prstGeom>
          <a:solidFill>
            <a:srgbClr val="06111F"/>
          </a:solidFill>
          <a:ln w="12700">
            <a:solidFill>
              <a:srgbClr val="FF8A2A">
                <a:alpha val="6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2058083359" name="Text 10"/>
          <p:cNvSpPr/>
          <p:nvPr/>
        </p:nvSpPr>
        <p:spPr bwMode="auto">
          <a:xfrm>
            <a:off x="932760" y="4873680"/>
            <a:ext cx="141696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defRPr/>
            </a:pPr>
            <a:r>
              <a:rPr lang="en-US" sz="1700" b="1" u="none" strike="noStrike">
                <a:solidFill>
                  <a:srgbClr val="FF8A2A"/>
                </a:solidFill>
                <a:latin typeface="Aptos"/>
              </a:rPr>
              <a:t>Not ideal</a:t>
            </a:r>
            <a:endParaRPr lang="sk" sz="1700" b="0" u="none" strike="noStrike">
              <a:solidFill>
                <a:srgbClr val="FFFFFF"/>
              </a:solidFill>
              <a:latin typeface="Calibri"/>
            </a:endParaRPr>
          </a:p>
        </p:txBody>
      </p:sp>
      <p:sp>
        <p:nvSpPr>
          <p:cNvPr id="2000053551" name="Text 11"/>
          <p:cNvSpPr/>
          <p:nvPr/>
        </p:nvSpPr>
        <p:spPr bwMode="auto">
          <a:xfrm>
            <a:off x="932760" y="5285160"/>
            <a:ext cx="2971440" cy="29232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defRPr/>
            </a:pPr>
            <a:r>
              <a:rPr lang="en-US" sz="950" b="0" u="none" strike="noStrike">
                <a:solidFill>
                  <a:srgbClr val="B9CBDA"/>
                </a:solidFill>
                <a:latin typeface="Aptos"/>
              </a:rPr>
              <a:t>Highly customized enterprise stacks, unusual policies, or teams that require full manual control of every component.</a:t>
            </a:r>
            <a:endParaRPr lang="sk" sz="950" b="0" u="none" strike="noStrike">
              <a:solidFill>
                <a:srgbClr val="FFFFFF"/>
              </a:solidFill>
              <a:latin typeface="Calibri"/>
            </a:endParaRPr>
          </a:p>
        </p:txBody>
      </p:sp>
      <p:sp>
        <p:nvSpPr>
          <p:cNvPr id="1227821080" name="Rectangle 19"/>
          <p:cNvSpPr/>
          <p:nvPr/>
        </p:nvSpPr>
        <p:spPr bwMode="auto">
          <a:xfrm>
            <a:off x="502920" y="6336720"/>
            <a:ext cx="1234080" cy="31680"/>
          </a:xfrm>
          <a:prstGeom prst="rect">
            <a:avLst/>
          </a:prstGeom>
          <a:solidFill>
            <a:srgbClr val="0082C9"/>
          </a:solidFill>
          <a:ln>
            <a:noFill/>
          </a:ln>
        </p:spPr>
        <p:style>
          <a:lnRef idx="1">
            <a:schemeClr val="accent1"/>
          </a:lnRef>
          <a:fillRef idx="3">
            <a:schemeClr val="accent1"/>
          </a:fillRef>
          <a:effectRef idx="2">
            <a:schemeClr val="accent1"/>
          </a:effectRef>
          <a:fontRef idx="minor"/>
        </p:style>
        <p:txBody>
          <a:bodyPr lIns="90000" tIns="-12960" rIns="90000" bIns="-12960" anchor="ctr">
            <a:noAutofit/>
          </a:bodyPr>
          <a:p>
            <a:pPr>
              <a:defRPr/>
            </a:pPr>
            <a:endParaRPr lang="sk" sz="1800" b="0" u="none" strike="noStrike">
              <a:solidFill>
                <a:schemeClr val="lt1"/>
              </a:solidFill>
              <a:latin typeface="Aptos"/>
            </a:endParaRPr>
          </a:p>
        </p:txBody>
      </p:sp>
      <p:sp>
        <p:nvSpPr>
          <p:cNvPr id="585368050" name=""/>
          <p:cNvSpPr txBox="1"/>
          <p:nvPr/>
        </p:nvSpPr>
        <p:spPr bwMode="auto">
          <a:xfrm rot="0" flipH="0" flipV="0">
            <a:off x="5453227" y="2516935"/>
            <a:ext cx="5528080" cy="223378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05907" indent="-305907" algn="l">
              <a:lnSpc>
                <a:spcPct val="83000"/>
              </a:lnSpc>
              <a:spcBef>
                <a:spcPts val="1188"/>
              </a:spcBef>
              <a:spcAft>
                <a:spcPts val="990"/>
              </a:spcAft>
              <a:buFont typeface="Arial"/>
              <a:buChar char="•"/>
              <a:defRPr/>
            </a:pPr>
            <a:r>
              <a:rPr lang="en-GB" sz="1800" b="0" i="0" u="none" strike="noStrike" cap="none" spc="0">
                <a:solidFill>
                  <a:schemeClr val="bg1"/>
                </a:solidFill>
                <a:latin typeface="Ubuntu"/>
                <a:ea typeface="Ubuntu"/>
                <a:cs typeface="Ubuntu"/>
              </a:rPr>
              <a:t>no administration skills required</a:t>
            </a:r>
            <a:endParaRPr sz="1800" b="0" u="none" strike="noStrike">
              <a:solidFill>
                <a:schemeClr val="bg1"/>
              </a:solidFill>
              <a:latin typeface="Ubuntu"/>
              <a:cs typeface="Ubuntu"/>
            </a:endParaRPr>
          </a:p>
          <a:p>
            <a:pPr marL="305907" indent="-305907" algn="l">
              <a:lnSpc>
                <a:spcPct val="83000"/>
              </a:lnSpc>
              <a:spcBef>
                <a:spcPts val="1188"/>
              </a:spcBef>
              <a:spcAft>
                <a:spcPts val="990"/>
              </a:spcAft>
              <a:buFont typeface="Arial"/>
              <a:buChar char="•"/>
              <a:defRPr/>
            </a:pPr>
            <a:r>
              <a:rPr lang="en-GB" sz="1800" b="0" i="0" u="none" strike="noStrike" cap="none" spc="0">
                <a:solidFill>
                  <a:schemeClr val="bg1"/>
                </a:solidFill>
                <a:latin typeface="Ubuntu"/>
                <a:ea typeface="Ubuntu"/>
                <a:cs typeface="Ubuntu"/>
              </a:rPr>
              <a:t>comprehensive documentation, Wiki and FAQ's</a:t>
            </a:r>
            <a:endParaRPr sz="1800" b="0" u="none" strike="noStrike">
              <a:solidFill>
                <a:schemeClr val="bg1"/>
              </a:solidFill>
              <a:latin typeface="Ubuntu"/>
              <a:cs typeface="Ubuntu"/>
            </a:endParaRPr>
          </a:p>
          <a:p>
            <a:pPr marL="305907" indent="-305907" algn="l">
              <a:lnSpc>
                <a:spcPct val="83000"/>
              </a:lnSpc>
              <a:spcBef>
                <a:spcPts val="1188"/>
              </a:spcBef>
              <a:spcAft>
                <a:spcPts val="990"/>
              </a:spcAft>
              <a:buFont typeface="Arial"/>
              <a:buChar char="•"/>
              <a:defRPr/>
            </a:pPr>
            <a:r>
              <a:rPr lang="en-GB" sz="1800" b="0" i="0" u="none" strike="noStrike" cap="none" spc="0">
                <a:solidFill>
                  <a:schemeClr val="bg1"/>
                </a:solidFill>
                <a:latin typeface="Ubuntu"/>
                <a:ea typeface="Ubuntu"/>
                <a:cs typeface="Ubuntu"/>
              </a:rPr>
              <a:t>GitHub issues &amp; community forum support</a:t>
            </a:r>
            <a:endParaRPr sz="1800" b="0" u="none" strike="noStrike">
              <a:solidFill>
                <a:schemeClr val="bg1"/>
              </a:solidFill>
              <a:latin typeface="Ubuntu"/>
              <a:cs typeface="Ubuntu"/>
            </a:endParaRPr>
          </a:p>
          <a:p>
            <a:pPr marL="305907" indent="-305907" algn="l">
              <a:lnSpc>
                <a:spcPct val="83000"/>
              </a:lnSpc>
              <a:spcBef>
                <a:spcPts val="1188"/>
              </a:spcBef>
              <a:spcAft>
                <a:spcPts val="990"/>
              </a:spcAft>
              <a:buFont typeface="Arial"/>
              <a:buChar char="•"/>
              <a:defRPr/>
            </a:pPr>
            <a:r>
              <a:rPr lang="en-GB" sz="1800" b="0" i="0" u="none" strike="noStrike" cap="none" spc="0">
                <a:solidFill>
                  <a:schemeClr val="bg1"/>
                </a:solidFill>
                <a:latin typeface="Ubuntu"/>
                <a:ea typeface="Ubuntu"/>
                <a:cs typeface="Ubuntu"/>
              </a:rPr>
              <a:t>automatic integrated Lets Encrypt certificates</a:t>
            </a:r>
            <a:endParaRPr sz="1800" b="0" u="none" strike="noStrike">
              <a:solidFill>
                <a:schemeClr val="bg1"/>
              </a:solidFill>
              <a:latin typeface="Ubuntu"/>
              <a:cs typeface="Ubuntu"/>
            </a:endParaRPr>
          </a:p>
          <a:p>
            <a:pPr marL="305907" indent="-305907" algn="l">
              <a:lnSpc>
                <a:spcPct val="83000"/>
              </a:lnSpc>
              <a:spcBef>
                <a:spcPts val="1188"/>
              </a:spcBef>
              <a:spcAft>
                <a:spcPts val="990"/>
              </a:spcAft>
              <a:buFont typeface="Arial"/>
              <a:buChar char="•"/>
              <a:defRPr/>
            </a:pPr>
            <a:r>
              <a:rPr lang="en-GB" sz="1800" b="0" i="0" u="none" strike="noStrike" cap="none" spc="0">
                <a:solidFill>
                  <a:schemeClr val="bg1"/>
                </a:solidFill>
                <a:latin typeface="Ubuntu"/>
                <a:ea typeface="Ubuntu"/>
                <a:cs typeface="Ubuntu"/>
              </a:rPr>
              <a:t>automatic customisable updates</a:t>
            </a:r>
            <a:endParaRPr sz="1800" b="0" i="0" u="none" strike="noStrike" cap="none" spc="0">
              <a:solidFill>
                <a:schemeClr val="bg1"/>
              </a:solidFill>
              <a:latin typeface="Ubuntu"/>
              <a:ea typeface="Ubuntu"/>
              <a:cs typeface="Ubuntu"/>
            </a:endParaRPr>
          </a:p>
          <a:p>
            <a:pPr marL="305907" indent="-305907">
              <a:buFont typeface="Arial"/>
              <a:buChar char="•"/>
              <a:defRPr/>
            </a:pPr>
            <a:r>
              <a:rPr lang="en-GB" sz="1800" b="0" i="0" u="none" strike="noStrike" cap="none" spc="0">
                <a:solidFill>
                  <a:schemeClr val="bg1"/>
                </a:solidFill>
                <a:latin typeface="Ubuntu"/>
                <a:ea typeface="Ubuntu"/>
                <a:cs typeface="Ubuntu"/>
              </a:rPr>
              <a:t>automatic snapshots and customisable backups</a:t>
            </a:r>
            <a:endParaRPr sz="2000">
              <a:latin typeface="Ubuntu"/>
              <a:cs typeface="Ubuntu"/>
            </a:endParaRPr>
          </a:p>
        </p:txBody>
      </p:sp>
      <p:sp>
        <p:nvSpPr>
          <p:cNvPr id="982931228" name="Shape 3"/>
          <p:cNvSpPr/>
          <p:nvPr/>
        </p:nvSpPr>
        <p:spPr bwMode="auto">
          <a:xfrm>
            <a:off x="575999" y="1080166"/>
            <a:ext cx="1535758" cy="383760"/>
          </a:xfrm>
          <a:prstGeom prst="roundRect">
            <a:avLst>
              <a:gd name="adj" fmla="val 21429"/>
            </a:avLst>
          </a:prstGeom>
          <a:solidFill>
            <a:srgbClr val="0082C9">
              <a:alpha val="96000"/>
            </a:srgbClr>
          </a:solidFill>
          <a:ln w="12700">
            <a:solidFill>
              <a:srgbClr val="0082C9">
                <a:alpha val="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827197984" name="Text 4"/>
          <p:cNvSpPr/>
          <p:nvPr/>
        </p:nvSpPr>
        <p:spPr bwMode="auto">
          <a:xfrm>
            <a:off x="713159" y="1188166"/>
            <a:ext cx="1261440" cy="145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50" b="1" u="none" strike="noStrike">
                <a:solidFill>
                  <a:srgbClr val="FFFFFF"/>
                </a:solidFill>
                <a:latin typeface="Aptos"/>
              </a:rPr>
              <a:t>POSITIONING</a:t>
            </a:r>
            <a:endParaRPr lang="sk" sz="850" b="0" u="none" strike="noStrike">
              <a:solidFill>
                <a:srgbClr val="FFFFFF"/>
              </a:solidFill>
              <a:latin typeface="Calibri"/>
            </a:endParaRPr>
          </a:p>
        </p:txBody>
      </p:sp>
      <p:sp>
        <p:nvSpPr>
          <p:cNvPr id="1758490669" name="Rounded Rectangle 14"/>
          <p:cNvSpPr/>
          <p:nvPr/>
        </p:nvSpPr>
        <p:spPr bwMode="auto">
          <a:xfrm>
            <a:off x="585360" y="356760"/>
            <a:ext cx="4429800" cy="652680"/>
          </a:xfrm>
          <a:prstGeom prst="roundRect">
            <a:avLst>
              <a:gd name="adj" fmla="val 16667"/>
            </a:avLst>
          </a:prstGeom>
          <a:solidFill>
            <a:srgbClr val="000000"/>
          </a:solidFill>
          <a:ln>
            <a:solidFill>
              <a:srgbClr val="0082C9"/>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defRPr/>
            </a:pPr>
            <a:endParaRPr lang="sk" sz="1800" b="0" u="none" strike="noStrike">
              <a:solidFill>
                <a:schemeClr val="lt1"/>
              </a:solidFill>
              <a:latin typeface="Aptos"/>
            </a:endParaRPr>
          </a:p>
        </p:txBody>
      </p:sp>
      <p:pic>
        <p:nvPicPr>
          <p:cNvPr id="767324684" name="Picture 15" descr="nextcloud_icon_white.png"/>
          <p:cNvPicPr/>
          <p:nvPr/>
        </p:nvPicPr>
        <p:blipFill rotWithShape="1">
          <a:blip r:embed="rId4"/>
          <a:stretch/>
        </p:blipFill>
        <p:spPr bwMode="auto">
          <a:xfrm>
            <a:off x="694800" y="420480"/>
            <a:ext cx="882360" cy="434880"/>
          </a:xfrm>
          <a:prstGeom prst="rect">
            <a:avLst/>
          </a:prstGeom>
          <a:noFill/>
          <a:ln w="0">
            <a:noFill/>
          </a:ln>
        </p:spPr>
      </p:pic>
      <p:sp>
        <p:nvSpPr>
          <p:cNvPr id="1632432545" name="TextBox 16"/>
          <p:cNvSpPr/>
          <p:nvPr/>
        </p:nvSpPr>
        <p:spPr bwMode="auto">
          <a:xfrm flipH="0" flipV="0">
            <a:off x="1549800" y="412920"/>
            <a:ext cx="2018390" cy="425639"/>
          </a:xfrm>
          <a:prstGeom prst="rect">
            <a:avLst/>
          </a:prstGeom>
          <a:noFill/>
          <a:ln w="0">
            <a:noFill/>
          </a:ln>
        </p:spPr>
        <p:style>
          <a:lnRef idx="0"/>
          <a:fillRef idx="0"/>
          <a:effectRef idx="0"/>
          <a:fontRef idx="minor"/>
        </p:style>
        <p:txBody>
          <a:bodyPr wrap="square" lIns="90000" tIns="45000" rIns="90000" bIns="45000" anchor="t">
            <a:spAutoFit/>
          </a:bodyPr>
          <a:p>
            <a:pPr defTabSz="914400">
              <a:lnSpc>
                <a:spcPct val="100000"/>
              </a:lnSpc>
              <a:defRPr/>
            </a:pPr>
            <a:r>
              <a:rPr lang="sk" sz="2200" b="1" u="none" strike="noStrike">
                <a:solidFill>
                  <a:srgbClr val="FFFFFF"/>
                </a:solidFill>
                <a:latin typeface="Aptos"/>
              </a:rPr>
              <a:t>Nextcloud</a:t>
            </a:r>
            <a:endParaRPr lang="sk" sz="2200" b="0" u="none" strike="noStrike">
              <a:solidFill>
                <a:srgbClr val="FFFFFF"/>
              </a:solidFill>
              <a:latin typeface="Calibri"/>
            </a:endParaRPr>
          </a:p>
        </p:txBody>
      </p:sp>
      <p:sp>
        <p:nvSpPr>
          <p:cNvPr id="1301941696" name="Rounded Rectangle 17"/>
          <p:cNvSpPr/>
          <p:nvPr/>
        </p:nvSpPr>
        <p:spPr bwMode="auto">
          <a:xfrm>
            <a:off x="4037040" y="443880"/>
            <a:ext cx="745920" cy="341640"/>
          </a:xfrm>
          <a:prstGeom prst="roundRect">
            <a:avLst>
              <a:gd name="adj" fmla="val 16667"/>
            </a:avLst>
          </a:prstGeom>
          <a:solidFill>
            <a:srgbClr val="0082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914400">
              <a:lnSpc>
                <a:spcPct val="100000"/>
              </a:lnSpc>
              <a:defRPr/>
            </a:pPr>
            <a:r>
              <a:rPr lang="sk" sz="1100" b="1" u="none" strike="noStrike">
                <a:solidFill>
                  <a:srgbClr val="FFFFFF"/>
                </a:solidFill>
                <a:latin typeface="Aptos"/>
              </a:rPr>
              <a:t>SNAP</a:t>
            </a:r>
            <a:endParaRPr lang="sk" sz="1100" b="0" u="none" strike="noStrike">
              <a:solidFill>
                <a:srgbClr val="FFFFFF"/>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6111F"/>
        </a:solidFill>
      </p:bgPr>
    </p:bg>
    <p:spTree>
      <p:nvGrpSpPr>
        <p:cNvPr id="1" name=""/>
        <p:cNvGrpSpPr/>
        <p:nvPr/>
      </p:nvGrpSpPr>
      <p:grpSpPr bwMode="auto">
        <a:xfrm>
          <a:off x="0" y="0"/>
          <a:ext cx="0" cy="0"/>
          <a:chOff x="0" y="0"/>
          <a:chExt cx="0" cy="0"/>
        </a:xfrm>
      </p:grpSpPr>
      <p:pic>
        <p:nvPicPr>
          <p:cNvPr id="457015817" name="Image 0" descr="/mnt/data/bg_decade_dark.png"/>
          <p:cNvPicPr/>
          <p:nvPr/>
        </p:nvPicPr>
        <p:blipFill rotWithShape="1">
          <a:blip r:embed="rId3"/>
          <a:stretch/>
        </p:blipFill>
        <p:spPr bwMode="auto">
          <a:xfrm>
            <a:off x="7919" y="0"/>
            <a:ext cx="12191400" cy="6857640"/>
          </a:xfrm>
          <a:prstGeom prst="rect">
            <a:avLst/>
          </a:prstGeom>
          <a:noFill/>
          <a:ln w="0">
            <a:noFill/>
          </a:ln>
        </p:spPr>
      </p:pic>
      <p:sp>
        <p:nvSpPr>
          <p:cNvPr id="2050146653" name="Text 1"/>
          <p:cNvSpPr/>
          <p:nvPr/>
        </p:nvSpPr>
        <p:spPr bwMode="auto">
          <a:xfrm>
            <a:off x="11292840" y="255960"/>
            <a:ext cx="36540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defRPr/>
            </a:pPr>
            <a:r>
              <a:rPr lang="en-US" sz="800" b="1" u="none" strike="noStrike">
                <a:solidFill>
                  <a:srgbClr val="B9CBDA"/>
                </a:solidFill>
                <a:latin typeface="Aptos"/>
                <a:ea typeface="Aptos"/>
              </a:rPr>
              <a:t>07</a:t>
            </a:r>
            <a:endParaRPr lang="sk" sz="800" b="0" u="none" strike="noStrike">
              <a:solidFill>
                <a:srgbClr val="FFFFFF"/>
              </a:solidFill>
              <a:latin typeface="Calibri"/>
            </a:endParaRPr>
          </a:p>
        </p:txBody>
      </p:sp>
      <p:sp>
        <p:nvSpPr>
          <p:cNvPr id="202440321" name="Shape 2"/>
          <p:cNvSpPr/>
          <p:nvPr/>
        </p:nvSpPr>
        <p:spPr bwMode="auto">
          <a:xfrm>
            <a:off x="502920" y="566640"/>
            <a:ext cx="11201400" cy="360"/>
          </a:xfrm>
          <a:prstGeom prst="line">
            <a:avLst/>
          </a:prstGeom>
          <a:ln w="8890">
            <a:solidFill>
              <a:srgbClr val="31536B">
                <a:alpha val="65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441262505" name="Shape 3"/>
          <p:cNvSpPr/>
          <p:nvPr/>
        </p:nvSpPr>
        <p:spPr bwMode="auto">
          <a:xfrm>
            <a:off x="694799" y="1190520"/>
            <a:ext cx="1874160" cy="383760"/>
          </a:xfrm>
          <a:prstGeom prst="roundRect">
            <a:avLst>
              <a:gd name="adj" fmla="val 21429"/>
            </a:avLst>
          </a:prstGeom>
          <a:solidFill>
            <a:srgbClr val="FF8A2A">
              <a:alpha val="96000"/>
            </a:srgbClr>
          </a:solidFill>
          <a:ln w="12700">
            <a:solidFill>
              <a:srgbClr val="FF8A2A">
                <a:alpha val="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366810463" name="Text 4"/>
          <p:cNvSpPr/>
          <p:nvPr/>
        </p:nvSpPr>
        <p:spPr bwMode="auto">
          <a:xfrm>
            <a:off x="831960" y="1298520"/>
            <a:ext cx="1599840" cy="145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50" b="1" u="none" strike="noStrike">
                <a:solidFill>
                  <a:srgbClr val="FFFFFF"/>
                </a:solidFill>
                <a:latin typeface="Aptos"/>
              </a:rPr>
              <a:t>COMMUNITY STORY</a:t>
            </a:r>
            <a:endParaRPr lang="sk" sz="850" b="0" u="none" strike="noStrike">
              <a:solidFill>
                <a:srgbClr val="FFFFFF"/>
              </a:solidFill>
              <a:latin typeface="Calibri"/>
            </a:endParaRPr>
          </a:p>
        </p:txBody>
      </p:sp>
      <p:sp>
        <p:nvSpPr>
          <p:cNvPr id="242741216" name="Text 5"/>
          <p:cNvSpPr/>
          <p:nvPr/>
        </p:nvSpPr>
        <p:spPr bwMode="auto">
          <a:xfrm flipH="0" flipV="0">
            <a:off x="3232620" y="1298520"/>
            <a:ext cx="6702120" cy="959760"/>
          </a:xfrm>
          <a:prstGeom prst="rect">
            <a:avLst/>
          </a:prstGeom>
          <a:noFill/>
          <a:ln w="0">
            <a:noFill/>
          </a:ln>
        </p:spPr>
        <p:style>
          <a:lnRef idx="0"/>
          <a:fillRef idx="0"/>
          <a:effectRef idx="0"/>
          <a:fontRef idx="minor"/>
        </p:style>
        <p:txBody>
          <a:bodyPr vertOverflow="overflow" horzOverflow="overflow" vert="horz" wrap="square" lIns="0" tIns="0" rIns="0" bIns="0" numCol="1" spcCol="0" rtlCol="0" fromWordArt="0" anchor="ctr" anchorCtr="0" forceAA="0" upright="0" compatLnSpc="0">
            <a:normAutofit fontScale="90000" lnSpcReduction="2000"/>
          </a:bodyPr>
          <a:p>
            <a:pPr algn="ctr" defTabSz="914400">
              <a:lnSpc>
                <a:spcPct val="100000"/>
              </a:lnSpc>
              <a:tabLst>
                <a:tab pos="0" algn="l"/>
              </a:tabLst>
              <a:defRPr/>
            </a:pPr>
            <a:r>
              <a:rPr lang="en-GB" sz="3600" b="1" i="0" u="none" strike="noStrike" cap="none" spc="0">
                <a:solidFill>
                  <a:schemeClr val="bg1"/>
                </a:solidFill>
                <a:latin typeface="Ubuntu"/>
                <a:ea typeface="Ubuntu"/>
                <a:cs typeface="Ubuntu"/>
              </a:rPr>
              <a:t>A decade of continuous focus on </a:t>
            </a:r>
            <a:endParaRPr lang="en-GB" sz="3600" b="1" i="0" u="none" strike="noStrike" cap="none" spc="0">
              <a:solidFill>
                <a:schemeClr val="bg1"/>
              </a:solidFill>
              <a:latin typeface="Times New Roman"/>
              <a:cs typeface="Times New Roman"/>
            </a:endParaRPr>
          </a:p>
          <a:p>
            <a:pPr algn="ctr" defTabSz="914400">
              <a:lnSpc>
                <a:spcPct val="100000"/>
              </a:lnSpc>
              <a:tabLst>
                <a:tab pos="0" algn="l"/>
              </a:tabLst>
              <a:defRPr/>
            </a:pPr>
            <a:r>
              <a:rPr lang="en-GB" sz="3600" b="1" i="0" u="none" strike="noStrike" cap="none" spc="0">
                <a:solidFill>
                  <a:schemeClr val="bg1"/>
                </a:solidFill>
                <a:latin typeface="Ubuntu"/>
                <a:ea typeface="Ubuntu"/>
                <a:cs typeface="Ubuntu"/>
              </a:rPr>
              <a:t>the Nextcloud experience</a:t>
            </a:r>
            <a:endParaRPr lang="sk" sz="3600" b="0" u="none" strike="noStrike">
              <a:solidFill>
                <a:srgbClr val="FFFFFF"/>
              </a:solidFill>
              <a:latin typeface="Calibri"/>
            </a:endParaRPr>
          </a:p>
        </p:txBody>
      </p:sp>
      <p:sp>
        <p:nvSpPr>
          <p:cNvPr id="1229782537" name="Shape 7"/>
          <p:cNvSpPr/>
          <p:nvPr/>
        </p:nvSpPr>
        <p:spPr bwMode="auto">
          <a:xfrm>
            <a:off x="951120" y="5074920"/>
            <a:ext cx="319680" cy="319680"/>
          </a:xfrm>
          <a:prstGeom prst="ellipse">
            <a:avLst/>
          </a:prstGeom>
          <a:solidFill>
            <a:srgbClr val="FF8A2A"/>
          </a:solidFill>
          <a:ln w="10160">
            <a:solidFill>
              <a:srgbClr val="FFFFFF">
                <a:alpha val="4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565313550" name="Shape 8"/>
          <p:cNvSpPr/>
          <p:nvPr/>
        </p:nvSpPr>
        <p:spPr bwMode="auto">
          <a:xfrm>
            <a:off x="1353240" y="5230080"/>
            <a:ext cx="1508759" cy="360"/>
          </a:xfrm>
          <a:prstGeom prst="line">
            <a:avLst/>
          </a:prstGeom>
          <a:ln w="17780">
            <a:solidFill>
              <a:srgbClr val="30D6FF">
                <a:alpha val="90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1042301050" name="Text 9"/>
          <p:cNvSpPr/>
          <p:nvPr/>
        </p:nvSpPr>
        <p:spPr bwMode="auto">
          <a:xfrm>
            <a:off x="631080" y="4507920"/>
            <a:ext cx="987120" cy="20088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defRPr/>
            </a:pPr>
            <a:r>
              <a:rPr lang="en-US" sz="1350" b="1" u="none" strike="noStrike">
                <a:solidFill>
                  <a:srgbClr val="FFFFFF"/>
                </a:solidFill>
                <a:latin typeface="Aptos"/>
              </a:rPr>
              <a:t>2016</a:t>
            </a:r>
            <a:endParaRPr lang="sk" sz="1350" b="0" u="none" strike="noStrike">
              <a:solidFill>
                <a:srgbClr val="FFFFFF"/>
              </a:solidFill>
              <a:latin typeface="Calibri"/>
            </a:endParaRPr>
          </a:p>
        </p:txBody>
      </p:sp>
      <p:sp>
        <p:nvSpPr>
          <p:cNvPr id="834693382" name="Text 10"/>
          <p:cNvSpPr/>
          <p:nvPr/>
        </p:nvSpPr>
        <p:spPr bwMode="auto">
          <a:xfrm>
            <a:off x="493920" y="5559480"/>
            <a:ext cx="12614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00" b="1" u="none" strike="noStrike">
                <a:solidFill>
                  <a:srgbClr val="B9CBDA"/>
                </a:solidFill>
                <a:latin typeface="Aptos"/>
              </a:rPr>
              <a:t>first release</a:t>
            </a:r>
            <a:endParaRPr lang="sk" sz="800" b="0" u="none" strike="noStrike">
              <a:solidFill>
                <a:srgbClr val="FFFFFF"/>
              </a:solidFill>
              <a:latin typeface="Calibri"/>
            </a:endParaRPr>
          </a:p>
        </p:txBody>
      </p:sp>
      <p:sp>
        <p:nvSpPr>
          <p:cNvPr id="1110709821" name="Shape 11"/>
          <p:cNvSpPr/>
          <p:nvPr/>
        </p:nvSpPr>
        <p:spPr bwMode="auto">
          <a:xfrm>
            <a:off x="2980800" y="5074920"/>
            <a:ext cx="319680" cy="319680"/>
          </a:xfrm>
          <a:prstGeom prst="ellipse">
            <a:avLst/>
          </a:prstGeom>
          <a:solidFill>
            <a:srgbClr val="30D6FF"/>
          </a:solidFill>
          <a:ln w="10160">
            <a:solidFill>
              <a:srgbClr val="FFFFFF">
                <a:alpha val="4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37236277" name="Shape 12"/>
          <p:cNvSpPr/>
          <p:nvPr/>
        </p:nvSpPr>
        <p:spPr bwMode="auto">
          <a:xfrm>
            <a:off x="3383280" y="5230080"/>
            <a:ext cx="1508759" cy="360"/>
          </a:xfrm>
          <a:prstGeom prst="line">
            <a:avLst/>
          </a:prstGeom>
          <a:ln w="17780">
            <a:solidFill>
              <a:srgbClr val="30D6FF">
                <a:alpha val="90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1773473371" name="Text 13"/>
          <p:cNvSpPr/>
          <p:nvPr/>
        </p:nvSpPr>
        <p:spPr bwMode="auto">
          <a:xfrm>
            <a:off x="2660760" y="4507920"/>
            <a:ext cx="987120" cy="20088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defRPr/>
            </a:pPr>
            <a:r>
              <a:rPr lang="en-US" sz="1350" b="1" u="none" strike="noStrike">
                <a:solidFill>
                  <a:srgbClr val="FFFFFF"/>
                </a:solidFill>
                <a:latin typeface="Aptos"/>
              </a:rPr>
              <a:t>docs</a:t>
            </a:r>
            <a:endParaRPr lang="sk" sz="1350" b="0" u="none" strike="noStrike">
              <a:solidFill>
                <a:srgbClr val="FFFFFF"/>
              </a:solidFill>
              <a:latin typeface="Calibri"/>
            </a:endParaRPr>
          </a:p>
        </p:txBody>
      </p:sp>
      <p:sp>
        <p:nvSpPr>
          <p:cNvPr id="1364053227" name="Text 14"/>
          <p:cNvSpPr/>
          <p:nvPr/>
        </p:nvSpPr>
        <p:spPr bwMode="auto">
          <a:xfrm>
            <a:off x="2523600" y="5559480"/>
            <a:ext cx="12614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00" b="1" u="none" strike="noStrike">
                <a:solidFill>
                  <a:srgbClr val="B9CBDA"/>
                </a:solidFill>
                <a:latin typeface="Aptos"/>
              </a:rPr>
              <a:t>knowledge base</a:t>
            </a:r>
            <a:endParaRPr lang="sk" sz="800" b="0" u="none" strike="noStrike">
              <a:solidFill>
                <a:srgbClr val="FFFFFF"/>
              </a:solidFill>
              <a:latin typeface="Calibri"/>
            </a:endParaRPr>
          </a:p>
        </p:txBody>
      </p:sp>
      <p:sp>
        <p:nvSpPr>
          <p:cNvPr id="554968181" name="Shape 15"/>
          <p:cNvSpPr/>
          <p:nvPr/>
        </p:nvSpPr>
        <p:spPr bwMode="auto">
          <a:xfrm>
            <a:off x="5010840" y="5074920"/>
            <a:ext cx="319680" cy="319680"/>
          </a:xfrm>
          <a:prstGeom prst="ellipse">
            <a:avLst/>
          </a:prstGeom>
          <a:solidFill>
            <a:srgbClr val="FF8A2A"/>
          </a:solidFill>
          <a:ln w="10160">
            <a:solidFill>
              <a:srgbClr val="FFFFFF">
                <a:alpha val="4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648135156" name="Shape 16"/>
          <p:cNvSpPr/>
          <p:nvPr/>
        </p:nvSpPr>
        <p:spPr bwMode="auto">
          <a:xfrm>
            <a:off x="5412960" y="5230080"/>
            <a:ext cx="1508759" cy="360"/>
          </a:xfrm>
          <a:prstGeom prst="line">
            <a:avLst/>
          </a:prstGeom>
          <a:ln w="17780">
            <a:solidFill>
              <a:srgbClr val="30D6FF">
                <a:alpha val="90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1789648065" name="Text 17"/>
          <p:cNvSpPr/>
          <p:nvPr/>
        </p:nvSpPr>
        <p:spPr bwMode="auto">
          <a:xfrm>
            <a:off x="4690800" y="4507920"/>
            <a:ext cx="987120" cy="20088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defRPr/>
            </a:pPr>
            <a:r>
              <a:rPr lang="en-US" sz="1350" b="1" u="none" strike="noStrike">
                <a:solidFill>
                  <a:srgbClr val="FFFFFF"/>
                </a:solidFill>
                <a:latin typeface="Aptos"/>
              </a:rPr>
              <a:t>tests</a:t>
            </a:r>
            <a:endParaRPr lang="sk" sz="1350" b="0" u="none" strike="noStrike">
              <a:solidFill>
                <a:srgbClr val="FFFFFF"/>
              </a:solidFill>
              <a:latin typeface="Calibri"/>
            </a:endParaRPr>
          </a:p>
        </p:txBody>
      </p:sp>
      <p:sp>
        <p:nvSpPr>
          <p:cNvPr id="572866302" name="Text 18"/>
          <p:cNvSpPr/>
          <p:nvPr/>
        </p:nvSpPr>
        <p:spPr bwMode="auto">
          <a:xfrm>
            <a:off x="4553640" y="5559480"/>
            <a:ext cx="12614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00" b="1" u="none" strike="noStrike">
                <a:solidFill>
                  <a:srgbClr val="B9CBDA"/>
                </a:solidFill>
                <a:latin typeface="Aptos"/>
              </a:rPr>
              <a:t>release confidence</a:t>
            </a:r>
            <a:endParaRPr lang="sk" sz="800" b="0" u="none" strike="noStrike">
              <a:solidFill>
                <a:srgbClr val="FFFFFF"/>
              </a:solidFill>
              <a:latin typeface="Calibri"/>
            </a:endParaRPr>
          </a:p>
        </p:txBody>
      </p:sp>
      <p:sp>
        <p:nvSpPr>
          <p:cNvPr id="941014037" name="Shape 19"/>
          <p:cNvSpPr/>
          <p:nvPr/>
        </p:nvSpPr>
        <p:spPr bwMode="auto">
          <a:xfrm>
            <a:off x="7040880" y="5074920"/>
            <a:ext cx="319680" cy="319680"/>
          </a:xfrm>
          <a:prstGeom prst="ellipse">
            <a:avLst/>
          </a:prstGeom>
          <a:solidFill>
            <a:srgbClr val="30D6FF"/>
          </a:solidFill>
          <a:ln w="10160">
            <a:solidFill>
              <a:srgbClr val="FFFFFF">
                <a:alpha val="4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1622258640" name="Shape 20"/>
          <p:cNvSpPr/>
          <p:nvPr/>
        </p:nvSpPr>
        <p:spPr bwMode="auto">
          <a:xfrm>
            <a:off x="7443000" y="5230080"/>
            <a:ext cx="1508759" cy="360"/>
          </a:xfrm>
          <a:prstGeom prst="line">
            <a:avLst/>
          </a:prstGeom>
          <a:ln w="17780">
            <a:solidFill>
              <a:srgbClr val="30D6FF">
                <a:alpha val="90000"/>
              </a:srgbClr>
            </a:solidFill>
            <a:round/>
          </a:ln>
        </p:spPr>
        <p:style>
          <a:lnRef idx="0"/>
          <a:fillRef idx="0"/>
          <a:effectRef idx="0"/>
          <a:fontRef idx="minor"/>
        </p:style>
        <p:txBody>
          <a:bodyPr lIns="90000" tIns="-44640" rIns="90000" bIns="-44640" anchor="t">
            <a:noAutofit/>
          </a:bodyPr>
          <a:p>
            <a:pPr>
              <a:defRPr/>
            </a:pPr>
            <a:endParaRPr lang="sk" sz="1800" b="0" u="none" strike="noStrike">
              <a:solidFill>
                <a:schemeClr val="dk1"/>
              </a:solidFill>
              <a:latin typeface="Aptos"/>
            </a:endParaRPr>
          </a:p>
        </p:txBody>
      </p:sp>
      <p:sp>
        <p:nvSpPr>
          <p:cNvPr id="1275266908" name="Text 21"/>
          <p:cNvSpPr/>
          <p:nvPr/>
        </p:nvSpPr>
        <p:spPr bwMode="auto">
          <a:xfrm>
            <a:off x="6720840" y="4507920"/>
            <a:ext cx="987120" cy="20088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defRPr/>
            </a:pPr>
            <a:r>
              <a:rPr lang="en-US" sz="1350" b="1" u="none" strike="noStrike">
                <a:solidFill>
                  <a:srgbClr val="FFFFFF"/>
                </a:solidFill>
                <a:latin typeface="Aptos"/>
              </a:rPr>
              <a:t>2026</a:t>
            </a:r>
            <a:endParaRPr lang="sk" sz="1350" b="0" u="none" strike="noStrike">
              <a:solidFill>
                <a:srgbClr val="FFFFFF"/>
              </a:solidFill>
              <a:latin typeface="Calibri"/>
            </a:endParaRPr>
          </a:p>
        </p:txBody>
      </p:sp>
      <p:sp>
        <p:nvSpPr>
          <p:cNvPr id="1363984466" name="Text 22"/>
          <p:cNvSpPr/>
          <p:nvPr/>
        </p:nvSpPr>
        <p:spPr bwMode="auto">
          <a:xfrm>
            <a:off x="6583680" y="5559480"/>
            <a:ext cx="12614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00" b="1" u="none" strike="noStrike">
                <a:solidFill>
                  <a:srgbClr val="B9CBDA"/>
                </a:solidFill>
                <a:latin typeface="Aptos"/>
              </a:rPr>
              <a:t>renewed support</a:t>
            </a:r>
            <a:endParaRPr lang="sk" sz="800" b="0" u="none" strike="noStrike">
              <a:solidFill>
                <a:srgbClr val="FFFFFF"/>
              </a:solidFill>
              <a:latin typeface="Calibri"/>
            </a:endParaRPr>
          </a:p>
        </p:txBody>
      </p:sp>
      <p:sp>
        <p:nvSpPr>
          <p:cNvPr id="2051809522" name="Shape 23"/>
          <p:cNvSpPr/>
          <p:nvPr/>
        </p:nvSpPr>
        <p:spPr bwMode="auto">
          <a:xfrm>
            <a:off x="9070920" y="5074920"/>
            <a:ext cx="319680" cy="319680"/>
          </a:xfrm>
          <a:prstGeom prst="ellipse">
            <a:avLst/>
          </a:prstGeom>
          <a:solidFill>
            <a:srgbClr val="FF8A2A"/>
          </a:solidFill>
          <a:ln w="10160">
            <a:solidFill>
              <a:srgbClr val="FFFFFF">
                <a:alpha val="45000"/>
              </a:srgbClr>
            </a:solidFill>
            <a:round/>
          </a:ln>
        </p:spPr>
        <p:style>
          <a:lnRef idx="0"/>
          <a:fillRef idx="0"/>
          <a:effectRef idx="0"/>
          <a:fontRef idx="minor"/>
        </p:style>
        <p:txBody>
          <a:bodyPr lIns="90000" tIns="45000" rIns="90000" bIns="45000" anchor="t">
            <a:noAutofit/>
          </a:bodyPr>
          <a:p>
            <a:pPr>
              <a:defRPr/>
            </a:pPr>
            <a:endParaRPr lang="sk" sz="1800" b="0" u="none" strike="noStrike">
              <a:solidFill>
                <a:schemeClr val="dk1"/>
              </a:solidFill>
              <a:latin typeface="Aptos"/>
            </a:endParaRPr>
          </a:p>
        </p:txBody>
      </p:sp>
      <p:sp>
        <p:nvSpPr>
          <p:cNvPr id="687294466" name="Text 24"/>
          <p:cNvSpPr/>
          <p:nvPr/>
        </p:nvSpPr>
        <p:spPr bwMode="auto">
          <a:xfrm>
            <a:off x="8750880" y="4507920"/>
            <a:ext cx="987120" cy="20088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defRPr/>
            </a:pPr>
            <a:r>
              <a:rPr lang="en-US" sz="1350" b="1" u="none" strike="noStrike">
                <a:solidFill>
                  <a:srgbClr val="FFFFFF"/>
                </a:solidFill>
                <a:latin typeface="Aptos"/>
              </a:rPr>
              <a:t>next</a:t>
            </a:r>
            <a:endParaRPr lang="sk" sz="1350" b="0" u="none" strike="noStrike">
              <a:solidFill>
                <a:srgbClr val="FFFFFF"/>
              </a:solidFill>
              <a:latin typeface="Calibri"/>
            </a:endParaRPr>
          </a:p>
        </p:txBody>
      </p:sp>
      <p:sp>
        <p:nvSpPr>
          <p:cNvPr id="1393374826" name="Text 25"/>
          <p:cNvSpPr/>
          <p:nvPr/>
        </p:nvSpPr>
        <p:spPr bwMode="auto">
          <a:xfrm>
            <a:off x="8613720" y="5559480"/>
            <a:ext cx="1261440" cy="2008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defRPr/>
            </a:pPr>
            <a:r>
              <a:rPr lang="en-US" sz="800" b="1" u="none" strike="noStrike">
                <a:solidFill>
                  <a:srgbClr val="B9CBDA"/>
                </a:solidFill>
                <a:latin typeface="Aptos"/>
              </a:rPr>
              <a:t>more contributors</a:t>
            </a:r>
            <a:endParaRPr lang="sk" sz="800" b="0" u="none" strike="noStrike">
              <a:solidFill>
                <a:srgbClr val="FFFFFF"/>
              </a:solidFill>
              <a:latin typeface="Calibri"/>
            </a:endParaRPr>
          </a:p>
        </p:txBody>
      </p:sp>
      <p:sp>
        <p:nvSpPr>
          <p:cNvPr id="1141433739" name="Rectangle 33"/>
          <p:cNvSpPr/>
          <p:nvPr/>
        </p:nvSpPr>
        <p:spPr bwMode="auto">
          <a:xfrm>
            <a:off x="502920" y="6336720"/>
            <a:ext cx="1234080" cy="31680"/>
          </a:xfrm>
          <a:prstGeom prst="rect">
            <a:avLst/>
          </a:prstGeom>
          <a:solidFill>
            <a:srgbClr val="0082C9"/>
          </a:solidFill>
          <a:ln>
            <a:noFill/>
          </a:ln>
        </p:spPr>
        <p:style>
          <a:lnRef idx="1">
            <a:schemeClr val="accent1"/>
          </a:lnRef>
          <a:fillRef idx="3">
            <a:schemeClr val="accent1"/>
          </a:fillRef>
          <a:effectRef idx="2">
            <a:schemeClr val="accent1"/>
          </a:effectRef>
          <a:fontRef idx="minor"/>
        </p:style>
        <p:txBody>
          <a:bodyPr lIns="90000" tIns="-12960" rIns="90000" bIns="-12960" anchor="ctr">
            <a:noAutofit/>
          </a:bodyPr>
          <a:p>
            <a:pPr>
              <a:defRPr/>
            </a:pPr>
            <a:endParaRPr lang="sk" sz="1800" b="0" u="none" strike="noStrike">
              <a:solidFill>
                <a:schemeClr val="lt1"/>
              </a:solidFill>
              <a:latin typeface="Aptos"/>
            </a:endParaRPr>
          </a:p>
        </p:txBody>
      </p:sp>
      <p:sp>
        <p:nvSpPr>
          <p:cNvPr id="405169873" name="Rounded Rectangle 14"/>
          <p:cNvSpPr/>
          <p:nvPr/>
        </p:nvSpPr>
        <p:spPr bwMode="auto">
          <a:xfrm>
            <a:off x="585360" y="356760"/>
            <a:ext cx="4429800" cy="652680"/>
          </a:xfrm>
          <a:prstGeom prst="roundRect">
            <a:avLst>
              <a:gd name="adj" fmla="val 16667"/>
            </a:avLst>
          </a:prstGeom>
          <a:solidFill>
            <a:srgbClr val="000000"/>
          </a:solidFill>
          <a:ln>
            <a:solidFill>
              <a:srgbClr val="0082C9"/>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defRPr/>
            </a:pPr>
            <a:endParaRPr lang="sk" sz="1800" b="0" u="none" strike="noStrike">
              <a:solidFill>
                <a:schemeClr val="lt1"/>
              </a:solidFill>
              <a:latin typeface="Aptos"/>
            </a:endParaRPr>
          </a:p>
        </p:txBody>
      </p:sp>
      <p:pic>
        <p:nvPicPr>
          <p:cNvPr id="508409827" name="Picture 15" descr="nextcloud_icon_white.png"/>
          <p:cNvPicPr/>
          <p:nvPr/>
        </p:nvPicPr>
        <p:blipFill rotWithShape="1">
          <a:blip r:embed="rId4"/>
          <a:stretch/>
        </p:blipFill>
        <p:spPr bwMode="auto">
          <a:xfrm>
            <a:off x="694800" y="420480"/>
            <a:ext cx="882360" cy="434880"/>
          </a:xfrm>
          <a:prstGeom prst="rect">
            <a:avLst/>
          </a:prstGeom>
          <a:noFill/>
          <a:ln w="0">
            <a:noFill/>
          </a:ln>
        </p:spPr>
      </p:pic>
      <p:sp>
        <p:nvSpPr>
          <p:cNvPr id="1367509093" name="TextBox 16"/>
          <p:cNvSpPr/>
          <p:nvPr/>
        </p:nvSpPr>
        <p:spPr bwMode="auto">
          <a:xfrm flipH="0" flipV="0">
            <a:off x="1549800" y="412920"/>
            <a:ext cx="2018749" cy="425639"/>
          </a:xfrm>
          <a:prstGeom prst="rect">
            <a:avLst/>
          </a:prstGeom>
          <a:noFill/>
          <a:ln w="0">
            <a:noFill/>
          </a:ln>
        </p:spPr>
        <p:style>
          <a:lnRef idx="0"/>
          <a:fillRef idx="0"/>
          <a:effectRef idx="0"/>
          <a:fontRef idx="minor"/>
        </p:style>
        <p:txBody>
          <a:bodyPr wrap="square" lIns="90000" tIns="45000" rIns="90000" bIns="45000" anchor="t">
            <a:spAutoFit/>
          </a:bodyPr>
          <a:p>
            <a:pPr defTabSz="914400">
              <a:lnSpc>
                <a:spcPct val="100000"/>
              </a:lnSpc>
              <a:defRPr/>
            </a:pPr>
            <a:r>
              <a:rPr lang="sk" sz="2200" b="1" u="none" strike="noStrike">
                <a:solidFill>
                  <a:srgbClr val="FFFFFF"/>
                </a:solidFill>
                <a:latin typeface="Aptos"/>
              </a:rPr>
              <a:t>Nextcloud</a:t>
            </a:r>
            <a:endParaRPr lang="sk" sz="2200" b="0" u="none" strike="noStrike">
              <a:solidFill>
                <a:srgbClr val="FFFFFF"/>
              </a:solidFill>
              <a:latin typeface="Calibri"/>
            </a:endParaRPr>
          </a:p>
        </p:txBody>
      </p:sp>
      <p:sp>
        <p:nvSpPr>
          <p:cNvPr id="249310988" name="Rounded Rectangle 17"/>
          <p:cNvSpPr/>
          <p:nvPr/>
        </p:nvSpPr>
        <p:spPr bwMode="auto">
          <a:xfrm>
            <a:off x="4037040" y="443880"/>
            <a:ext cx="745920" cy="341640"/>
          </a:xfrm>
          <a:prstGeom prst="roundRect">
            <a:avLst>
              <a:gd name="adj" fmla="val 16667"/>
            </a:avLst>
          </a:prstGeom>
          <a:solidFill>
            <a:srgbClr val="0082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914400">
              <a:lnSpc>
                <a:spcPct val="100000"/>
              </a:lnSpc>
              <a:defRPr/>
            </a:pPr>
            <a:r>
              <a:rPr lang="sk" sz="1100" b="1" u="none" strike="noStrike">
                <a:solidFill>
                  <a:srgbClr val="FFFFFF"/>
                </a:solidFill>
                <a:latin typeface="Aptos"/>
              </a:rPr>
              <a:t>SNAP</a:t>
            </a:r>
            <a:endParaRPr lang="sk" sz="1100" b="0" u="none" strike="noStrike">
              <a:solidFill>
                <a:srgbClr val="FFFFFF"/>
              </a:solidFill>
              <a:latin typeface="Calibri"/>
            </a:endParaRPr>
          </a:p>
        </p:txBody>
      </p:sp>
      <p:sp>
        <p:nvSpPr>
          <p:cNvPr id="760270606" name=""/>
          <p:cNvSpPr txBox="1"/>
          <p:nvPr/>
        </p:nvSpPr>
        <p:spPr bwMode="auto">
          <a:xfrm rot="0" flipH="0" flipV="0">
            <a:off x="1177429" y="2552238"/>
            <a:ext cx="6944577" cy="1737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261849" marR="0" indent="-261849" algn="l">
              <a:lnSpc>
                <a:spcPct val="100000"/>
              </a:lnSpc>
              <a:spcBef>
                <a:spcPts val="0"/>
              </a:spcBef>
              <a:spcAft>
                <a:spcPts val="0"/>
              </a:spcAft>
              <a:buFont typeface="Arial"/>
              <a:buChar char="•"/>
              <a:tabLst>
                <a:tab pos="0" algn="l"/>
              </a:tabLst>
              <a:defRPr/>
            </a:pPr>
            <a:r>
              <a:rPr lang="en-US" sz="1800" b="1" i="0" u="none" strike="noStrike" cap="none" spc="0">
                <a:solidFill>
                  <a:schemeClr val="bg1"/>
                </a:solidFill>
                <a:latin typeface="Aptos"/>
                <a:ea typeface="Aptos"/>
                <a:cs typeface="Aptos"/>
              </a:rPr>
              <a:t>2016 </a:t>
            </a:r>
            <a:r>
              <a:rPr lang="en-US" sz="1800" b="0" i="0" u="none" strike="noStrike" cap="none" spc="0">
                <a:solidFill>
                  <a:schemeClr val="bg1"/>
                </a:solidFill>
                <a:latin typeface="Aptos"/>
                <a:ea typeface="Aptos"/>
                <a:cs typeface="Aptos"/>
              </a:rPr>
              <a:t>-</a:t>
            </a:r>
            <a:r>
              <a:rPr lang="en-US" sz="1800" b="0" i="0" u="none" strike="noStrike" cap="none" spc="0">
                <a:solidFill>
                  <a:schemeClr val="bg1"/>
                </a:solidFill>
                <a:latin typeface="Aptos"/>
                <a:ea typeface="Aptos"/>
                <a:cs typeface="Aptos"/>
              </a:rPr>
              <a:t> Kyle Fazzari built the first Nextcloud snap</a:t>
            </a:r>
            <a:endParaRPr sz="1800" b="0" i="0" u="none" strike="noStrike" cap="none" spc="0">
              <a:solidFill>
                <a:schemeClr val="bg1"/>
              </a:solidFill>
              <a:latin typeface="Aptos"/>
              <a:cs typeface="Aptos"/>
            </a:endParaRPr>
          </a:p>
          <a:p>
            <a:pPr marL="261849" marR="0" indent="-261849" algn="l">
              <a:lnSpc>
                <a:spcPct val="100000"/>
              </a:lnSpc>
              <a:spcBef>
                <a:spcPts val="0"/>
              </a:spcBef>
              <a:spcAft>
                <a:spcPts val="0"/>
              </a:spcAft>
              <a:buFont typeface="Arial"/>
              <a:buChar char="•"/>
              <a:tabLst>
                <a:tab pos="0" algn="l"/>
              </a:tabLst>
              <a:defRPr/>
            </a:pPr>
            <a:r>
              <a:rPr lang="en-US" sz="1800" b="1" i="0" u="none" strike="noStrike" cap="none" spc="0">
                <a:solidFill>
                  <a:schemeClr val="bg1"/>
                </a:solidFill>
                <a:latin typeface="Aptos"/>
                <a:ea typeface="Aptos"/>
                <a:cs typeface="Aptos"/>
              </a:rPr>
              <a:t>2019 </a:t>
            </a:r>
            <a:r>
              <a:rPr lang="en-US" sz="1800" b="0" i="0" u="none" strike="noStrike" cap="none" spc="0">
                <a:solidFill>
                  <a:schemeClr val="bg1"/>
                </a:solidFill>
                <a:latin typeface="Aptos"/>
                <a:ea typeface="Aptos"/>
                <a:cs typeface="Aptos"/>
              </a:rPr>
              <a:t>- snap Team formation </a:t>
            </a:r>
            <a:endParaRPr sz="1800" b="0" i="0" u="none" strike="noStrike" cap="none" spc="0">
              <a:solidFill>
                <a:schemeClr val="bg1"/>
              </a:solidFill>
              <a:latin typeface="Aptos"/>
              <a:cs typeface="Aptos"/>
            </a:endParaRPr>
          </a:p>
          <a:p>
            <a:pPr marL="261849" marR="0" indent="-261849" algn="l">
              <a:lnSpc>
                <a:spcPct val="100000"/>
              </a:lnSpc>
              <a:spcBef>
                <a:spcPts val="0"/>
              </a:spcBef>
              <a:spcAft>
                <a:spcPts val="0"/>
              </a:spcAft>
              <a:buFont typeface="Arial"/>
              <a:buChar char="•"/>
              <a:tabLst>
                <a:tab pos="0" algn="l"/>
              </a:tabLst>
              <a:defRPr/>
            </a:pPr>
            <a:r>
              <a:rPr lang="en-US" sz="1800" b="1" i="0" u="none" strike="noStrike" cap="none" spc="0">
                <a:solidFill>
                  <a:schemeClr val="bg1"/>
                </a:solidFill>
                <a:latin typeface="Aptos"/>
                <a:ea typeface="Aptos"/>
                <a:cs typeface="Aptos"/>
              </a:rPr>
              <a:t>2020 </a:t>
            </a:r>
            <a:r>
              <a:rPr lang="en-US" sz="1800" b="0" i="0" u="none" strike="noStrike" cap="none" spc="0">
                <a:solidFill>
                  <a:schemeClr val="bg1"/>
                </a:solidFill>
                <a:latin typeface="Aptos"/>
                <a:ea typeface="Aptos"/>
                <a:cs typeface="Aptos"/>
              </a:rPr>
              <a:t>- documentation &amp; Wiki</a:t>
            </a:r>
            <a:endParaRPr sz="1800" b="0" i="0" u="none" strike="noStrike" cap="none" spc="0">
              <a:solidFill>
                <a:schemeClr val="bg1"/>
              </a:solidFill>
              <a:latin typeface="Aptos"/>
              <a:cs typeface="Aptos"/>
            </a:endParaRPr>
          </a:p>
          <a:p>
            <a:pPr marL="261849" marR="0" indent="-261849" algn="l">
              <a:lnSpc>
                <a:spcPct val="100000"/>
              </a:lnSpc>
              <a:spcBef>
                <a:spcPts val="0"/>
              </a:spcBef>
              <a:spcAft>
                <a:spcPts val="0"/>
              </a:spcAft>
              <a:buFont typeface="Arial"/>
              <a:buChar char="•"/>
              <a:tabLst>
                <a:tab pos="0" algn="l"/>
              </a:tabLst>
              <a:defRPr/>
            </a:pPr>
            <a:r>
              <a:rPr sz="1800" b="1" i="0" u="none" strike="noStrike" cap="none" spc="0">
                <a:solidFill>
                  <a:schemeClr val="bg1"/>
                </a:solidFill>
                <a:latin typeface="Aptos"/>
                <a:cs typeface="Aptos"/>
              </a:rPr>
              <a:t>2025 </a:t>
            </a:r>
            <a:r>
              <a:rPr sz="1800" b="0" i="0" u="none" strike="noStrike" cap="none" spc="0">
                <a:solidFill>
                  <a:schemeClr val="bg1"/>
                </a:solidFill>
                <a:latin typeface="Aptos"/>
                <a:cs typeface="Aptos"/>
              </a:rPr>
              <a:t>- call for developer support</a:t>
            </a:r>
            <a:endParaRPr sz="1800" b="0" i="0" u="none" strike="noStrike" cap="none" spc="0">
              <a:solidFill>
                <a:schemeClr val="bg1"/>
              </a:solidFill>
              <a:latin typeface="Aptos"/>
              <a:cs typeface="Aptos"/>
            </a:endParaRPr>
          </a:p>
          <a:p>
            <a:pPr marL="261849" marR="0" indent="-261849" algn="l">
              <a:lnSpc>
                <a:spcPct val="100000"/>
              </a:lnSpc>
              <a:spcBef>
                <a:spcPts val="0"/>
              </a:spcBef>
              <a:spcAft>
                <a:spcPts val="0"/>
              </a:spcAft>
              <a:buFont typeface="Arial"/>
              <a:buChar char="•"/>
              <a:tabLst>
                <a:tab pos="0" algn="l"/>
              </a:tabLst>
              <a:defRPr/>
            </a:pPr>
            <a:r>
              <a:rPr lang="en-US" sz="1800" b="1" i="0" u="none" strike="noStrike" cap="none" spc="0">
                <a:solidFill>
                  <a:schemeClr val="bg1"/>
                </a:solidFill>
                <a:latin typeface="Aptos"/>
                <a:ea typeface="Aptos"/>
                <a:cs typeface="Aptos"/>
              </a:rPr>
              <a:t>2026 </a:t>
            </a:r>
            <a:r>
              <a:rPr lang="en-US" sz="1800" b="0" i="0" u="none" strike="noStrike" cap="none" spc="0">
                <a:solidFill>
                  <a:schemeClr val="bg1"/>
                </a:solidFill>
                <a:latin typeface="Aptos"/>
                <a:ea typeface="Aptos"/>
                <a:cs typeface="Aptos"/>
              </a:rPr>
              <a:t>- plugin migration &amp; snap core upgrade</a:t>
            </a:r>
            <a:endParaRPr lang="en-US" sz="1800" b="0" i="0" u="none" strike="noStrike" cap="none" spc="0">
              <a:solidFill>
                <a:schemeClr val="bg1"/>
              </a:solidFill>
              <a:latin typeface="Aptos"/>
              <a:ea typeface="Aptos"/>
              <a:cs typeface="Aptos"/>
            </a:endParaRPr>
          </a:p>
          <a:p>
            <a:pPr marL="283879" indent="-283879" algn="l">
              <a:lnSpc>
                <a:spcPct val="100000"/>
              </a:lnSpc>
              <a:spcBef>
                <a:spcPts val="0"/>
              </a:spcBef>
              <a:spcAft>
                <a:spcPts val="0"/>
              </a:spcAft>
              <a:buFont typeface="Arial"/>
              <a:buChar char="•"/>
              <a:tabLst>
                <a:tab pos="0" algn="l"/>
              </a:tabLst>
              <a:defRPr/>
            </a:pPr>
            <a:r>
              <a:rPr sz="1800" b="0" i="0" u="none" strike="noStrike" cap="none" spc="0">
                <a:solidFill>
                  <a:schemeClr val="bg1"/>
                </a:solidFill>
                <a:latin typeface="Aptos"/>
                <a:cs typeface="Aptos"/>
              </a:rPr>
              <a:t>Incredible community with over </a:t>
            </a:r>
            <a:r>
              <a:rPr sz="1800" b="1" i="0" u="none" strike="noStrike" cap="none" spc="0">
                <a:solidFill>
                  <a:schemeClr val="bg1"/>
                </a:solidFill>
                <a:latin typeface="Aptos"/>
                <a:cs typeface="Aptos"/>
              </a:rPr>
              <a:t>70k</a:t>
            </a:r>
            <a:r>
              <a:rPr sz="1800" b="0" i="0" u="none" strike="noStrike" cap="none" spc="0">
                <a:solidFill>
                  <a:schemeClr val="bg1"/>
                </a:solidFill>
                <a:latin typeface="Aptos"/>
                <a:cs typeface="Aptos"/>
              </a:rPr>
              <a:t> snap installations</a:t>
            </a:r>
            <a:endParaRPr sz="1600" b="1" i="0" u="none" strike="noStrike" cap="none" spc="0">
              <a:solidFill>
                <a:schemeClr val="bg1"/>
              </a:solidFill>
              <a:latin typeface="Aptos"/>
              <a:cs typeface="Apto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Arial"/>
        <a:cs typeface="Arial"/>
      </a:majorFont>
      <a:minorFont>
        <a:latin typeface="Aptos"/>
        <a:ea typeface="Arial"/>
        <a:cs typeface="Arial"/>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Classic">
      <a:dk1>
        <a:srgbClr val="000000"/>
      </a:dk1>
      <a:lt1>
        <a:srgbClr val="FFFFFF"/>
      </a:lt1>
      <a:dk2>
        <a:srgbClr val="2E2706"/>
      </a:dk2>
      <a:lt2>
        <a:srgbClr val="EEEEEE"/>
      </a:lt2>
      <a:accent1>
        <a:srgbClr val="3465A4"/>
      </a:accent1>
      <a:accent2>
        <a:srgbClr val="168253"/>
      </a:accent2>
      <a:accent3>
        <a:srgbClr val="D62E4E"/>
      </a:accent3>
      <a:accent4>
        <a:srgbClr val="729FCF"/>
      </a:accent4>
      <a:accent5>
        <a:srgbClr val="5EB91E"/>
      </a:accent5>
      <a:accent6>
        <a:srgbClr val="EA7500"/>
      </a:accent6>
      <a:hlink>
        <a:srgbClr val="0060FF"/>
      </a:hlink>
      <a:folHlink>
        <a:srgbClr val="8020D9"/>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onlyoffice/2.5.565.0</Application>
  <PresentationFormat>On-screen Show (4:3)</PresentationFormat>
  <Paragraphs>0</Paragraphs>
  <Slides>7</Slides>
  <Notes>7</Notes>
  <HiddenSlides>0</HiddenSlides>
  <MMClips>2</MMClips>
  <ScaleCrop>0</ScaleCrop>
  <HeadingPairs>
    <vt:vector size="4" baseType="variant">
      <vt:variant>
        <vt:lpstr>Theme</vt:lpstr>
      </vt:variant>
      <vt:variant>
        <vt:i4>1</vt:i4>
      </vt:variant>
      <vt:variant>
        <vt:lpstr>Slide Titles</vt:lpstr>
      </vt:variant>
      <vt:variant>
        <vt:i4>7</vt:i4>
      </vt:variant>
    </vt:vector>
  </HeadingPairs>
  <TitlesOfParts>
    <vt:vector size="8" baseType="lpstr">
      <vt:lpstr>Theme 1</vt:lpstr>
      <vt:lpstr>Slide 1</vt:lpstr>
      <vt:lpstr>Slide 2</vt:lpstr>
      <vt:lpstr>Slide 3</vt:lpstr>
      <vt:lpstr>Slide 4</vt:lpstr>
      <vt:lpstr>Slide 5</vt:lpstr>
      <vt:lpstr>Slide 6</vt:lpstr>
      <vt:lpstr>Slide 7</vt:lpstr>
    </vt:vector>
  </TitlesOfParts>
  <Company>Nextcloud Community</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Nextcloud Snap — Advanced conference redesign</dc:title>
  <dc:subject>Nextcloud Snap Lightning Talk</dc:subject>
  <dc:creator>OpenAI</dc:creator>
  <dc:description/>
  <dc:language>sk</dc:language>
  <cp:lastModifiedBy>Ulrich</cp:lastModifiedBy>
  <cp:revision>23</cp:revision>
  <dcterms:created xsi:type="dcterms:W3CDTF">2026-07-23T13:00:16Z</dcterms:created>
  <dcterms:modified xsi:type="dcterms:W3CDTF">2026-08-18T16:57:29Z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